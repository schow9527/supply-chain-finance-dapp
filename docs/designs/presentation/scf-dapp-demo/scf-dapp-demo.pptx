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harts/chart11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charts/_rels/chart11_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_chart11_1.xlsx"/></Relationships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优化前</c:v>
                </c:pt>
              </c:strCache>
            </c:strRef>
          </c:tx>
          <c:spPr>
            <a:solidFill>
              <a:srgbClr val="B9C2C9"/>
            </a:solidFill>
          </c:spPr>
          <c:cat>
            <c:strRef>
              <c:f>Sheet1!$A$2:$A$6</c:f>
              <c:strCache>
                <c:ptCount val="5"/>
                <c:pt idx="0">
                  <c:v>上传发票</c:v>
                </c:pt>
                <c:pt idx="1">
                  <c:v>确认发票</c:v>
                </c:pt>
                <c:pt idx="2">
                  <c:v>申请融资</c:v>
                </c:pt>
                <c:pt idx="3">
                  <c:v>接受报价放款</c:v>
                </c:pt>
                <c:pt idx="4">
                  <c:v>兑付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219256</c:v>
                </c:pt>
                <c:pt idx="1">
                  <c:v>150356</c:v>
                </c:pt>
                <c:pt idx="2">
                  <c:v>171930</c:v>
                </c:pt>
                <c:pt idx="3">
                  <c:v>160852</c:v>
                </c:pt>
                <c:pt idx="4">
                  <c:v>66008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优化后</c:v>
                </c:pt>
              </c:strCache>
            </c:strRef>
          </c:tx>
          <c:spPr>
            <a:solidFill>
              <a:srgbClr val="E76F51"/>
            </a:solidFill>
          </c:spPr>
          <c:cat>
            <c:strRef>
              <c:f>Sheet1!$A$2:$A$6</c:f>
              <c:strCache>
                <c:ptCount val="5"/>
                <c:pt idx="0">
                  <c:v>上传发票</c:v>
                </c:pt>
                <c:pt idx="1">
                  <c:v>确认发票</c:v>
                </c:pt>
                <c:pt idx="2">
                  <c:v>申请融资</c:v>
                </c:pt>
                <c:pt idx="3">
                  <c:v>接受报价放款</c:v>
                </c:pt>
                <c:pt idx="4">
                  <c:v>兑付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173254</c:v>
                </c:pt>
                <c:pt idx="1">
                  <c:v>124931</c:v>
                </c:pt>
                <c:pt idx="2">
                  <c:v>145491</c:v>
                </c:pt>
                <c:pt idx="3">
                  <c:v>131343</c:v>
                </c:pt>
                <c:pt idx="4">
                  <c:v>64043</c:v>
                </c:pt>
              </c:numCache>
            </c:numRef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C9CFD4"/>
            </a:solidFill>
          </a:ln>
        </c:spPr>
        <c:txPr>
          <a:bodyPr/>
          <a:lstStyle/>
          <a:p>
            <a:pPr>
              <a:defRPr sz="1200" noProof="1" b="0" i="0" u="none" strike="noStrike">
                <a:latin typeface="Arial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250000"/>
          <c:min val="0"/>
        </c:scaling>
        <c:delete val="0"/>
        <c:axPos val="l"/>
        <c:majorGridlines>
          <c:spPr>
            <a:ln w="12700">
              <a:solidFill>
                <a:srgbClr val="EEEF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noProof="1" b="0" i="0" u="none" strike="noStrike">
                <a:latin typeface="Arial"/>
              </a:defRPr>
            </a:pPr>
            <a:endParaRPr lang="en-US" noProof="1"/>
          </a:p>
        </c:txPr>
        <c:crossAx val="1"/>
        <c:crosses val="autoZero"/>
        <c:crossBetween val="between"/>
        <c:majorUnit val="5000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 noProof="1" b="0" i="0" u="none" strike="noStrike">
              <a:latin typeface="Arial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1.png"/><Relationship Id="rId3" Type="http://schemas.openxmlformats.org/officeDocument/2006/relationships/image" Target="../media/image9_2.png"/><Relationship Id="rId4" Type="http://schemas.openxmlformats.org/officeDocument/2006/relationships/image" Target="../media/image9_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1524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NTU SC6113 · 小组项目演示</a:t>
            </a:r>
            <a:endParaRPr lang="en-US" sz="1200" noProof="1"/>
          </a:p>
        </p:txBody>
      </p:sp>
      <p:sp>
        <p:nvSpPr>
          <p:cNvPr id="3" name="rule-top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889000" y="1930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E76F51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889000" y="22225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1B2A32"/>
                </a:solidFill>
                <a:latin typeface="MiSans"/>
                <a:ea typeface="MiSans"/>
              </a:rPr>
              <a:t>供应链金融 DApp</a:t>
            </a:r>
            <a:endParaRPr lang="en-US" sz="4600" noProof="1"/>
          </a:p>
        </p:txBody>
      </p:sp>
      <p:sp>
        <p:nvSpPr>
          <p:cNvPr id="5" name="subtitle"/>
          <p:cNvSpPr txBox="1"/>
          <p:nvPr/>
        </p:nvSpPr>
        <p:spPr>
          <a:xfrm>
            <a:off x="889000" y="32385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3A4A54"/>
                </a:solidFill>
                <a:latin typeface="MiSans"/>
                <a:ea typeface="MiSans"/>
              </a:rPr>
              <a:t>应收账款上链 · 可拆分转让的数字凭证 · 从机制上杜绝重复融资</a:t>
            </a:r>
            <a:endParaRPr lang="en-US" sz="1900" noProof="1"/>
          </a:p>
        </p:txBody>
      </p:sp>
      <p:sp>
        <p:nvSpPr>
          <p:cNvPr id="6" name="meta"/>
          <p:cNvSpPr txBox="1"/>
          <p:nvPr/>
        </p:nvSpPr>
        <p:spPr>
          <a:xfrm>
            <a:off x="889000" y="4064000"/>
            <a:ext cx="8890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技术栈：Solidity（ERC-1155 / ERC-20）· Python Flask · Ethers.js / MetaMask</a:t>
            </a:r>
            <a:endParaRPr lang="en-US" sz="1100" noProof="1"/>
          </a:p>
          <a:p>
            <a:pPr>
              <a:lnSpc>
                <a:spcPct val="18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部署：以太坊 Sepolia 测试网 · Render 云端服务</a:t>
            </a:r>
            <a:endParaRPr lang="en-US" sz="1100" noProof="1"/>
          </a:p>
        </p:txBody>
      </p:sp>
      <p:sp>
        <p:nvSpPr>
          <p:cNvPr id="7" name="footer-rule"/>
          <p:cNvSpPr/>
          <p:nvPr>
            <p:extLst>
              <p:ext uri="{F5677B7D-0D2A-4D9B-9A5C-6D8D7D0E5A5D}">
                <pptd:line encoding="base64url">eyJ2aWV3Qm94IjpbODIwLDFdLCJwb2ludHMiOiIwLDAgODIwLDAifQ</pptd:line>
              </p:ext>
            </p:extLst>
          </p:nvPr>
        </p:nvSpPr>
        <p:spPr>
          <a:xfrm>
            <a:off x="889000" y="5969000"/>
            <a:ext cx="10414000" cy="12700"/>
          </a:xfrm>
          <a:custGeom>
            <a:avLst/>
            <a:gdLst/>
            <a:ahLst/>
            <a:cxnLst/>
            <a:rect l="l" t="t" r="r" b="b"/>
            <a:pathLst>
              <a:path w="820" h="1">
                <a:moveTo>
                  <a:pt x="0" y="0"/>
                </a:moveTo>
                <a:lnTo>
                  <a:pt x="82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8" name="footer"/>
          <p:cNvSpPr txBox="1"/>
          <p:nvPr/>
        </p:nvSpPr>
        <p:spPr>
          <a:xfrm>
            <a:off x="889000" y="61214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课程项目组 · 2026-10 · 演示主线：上传发票 → 确认 → 融资 → 放款 → 还款 → 兑付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01 · 背景与问题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中小供应商回款慢、融资难，核心企业信用传不下去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p1-num"/>
          <p:cNvSpPr txBox="1"/>
          <p:nvPr/>
        </p:nvSpPr>
        <p:spPr>
          <a:xfrm>
            <a:off x="762000" y="1651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01</a:t>
            </a:r>
            <a:endParaRPr lang="en-US" sz="2000" noProof="1"/>
          </a:p>
        </p:txBody>
      </p:sp>
      <p:sp>
        <p:nvSpPr>
          <p:cNvPr id="6" name="p1-title"/>
          <p:cNvSpPr txBox="1"/>
          <p:nvPr/>
        </p:nvSpPr>
        <p:spPr>
          <a:xfrm>
            <a:off x="1333500" y="1676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回款周期长，现金流被占用</a:t>
            </a:r>
            <a:endParaRPr lang="en-US" sz="1600" noProof="1"/>
          </a:p>
        </p:txBody>
      </p:sp>
      <p:sp>
        <p:nvSpPr>
          <p:cNvPr id="7" name="p1-body"/>
          <p:cNvSpPr txBox="1"/>
          <p:nvPr/>
        </p:nvSpPr>
        <p:spPr>
          <a:xfrm>
            <a:off x="1333500" y="2032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货卖给核心企业后要等数月才能收款，中小供应商缺乏短期流动资金。</a:t>
            </a:r>
            <a:endParaRPr lang="en-US" sz="1400" noProof="1"/>
          </a:p>
        </p:txBody>
      </p:sp>
      <p:sp>
        <p:nvSpPr>
          <p:cNvPr id="8" name="p2-num"/>
          <p:cNvSpPr txBox="1"/>
          <p:nvPr/>
        </p:nvSpPr>
        <p:spPr>
          <a:xfrm>
            <a:off x="762000" y="31115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02</a:t>
            </a:r>
            <a:endParaRPr lang="en-US" sz="2000" noProof="1"/>
          </a:p>
        </p:txBody>
      </p:sp>
      <p:sp>
        <p:nvSpPr>
          <p:cNvPr id="9" name="p2-title"/>
          <p:cNvSpPr txBox="1"/>
          <p:nvPr/>
        </p:nvSpPr>
        <p:spPr>
          <a:xfrm>
            <a:off x="1333500" y="31369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发票真伪无法跨机构核验</a:t>
            </a:r>
            <a:endParaRPr lang="en-US" sz="1600" noProof="1"/>
          </a:p>
        </p:txBody>
      </p:sp>
      <p:sp>
        <p:nvSpPr>
          <p:cNvPr id="10" name="p2-body"/>
          <p:cNvSpPr txBox="1"/>
          <p:nvPr/>
        </p:nvSpPr>
        <p:spPr>
          <a:xfrm>
            <a:off x="1333500" y="34925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同一张发票可能被拿到多家银行重复融资，机构之间不共享数据。</a:t>
            </a:r>
            <a:endParaRPr lang="en-US" sz="1400" noProof="1"/>
          </a:p>
        </p:txBody>
      </p:sp>
      <p:sp>
        <p:nvSpPr>
          <p:cNvPr id="11" name="p3-num"/>
          <p:cNvSpPr txBox="1"/>
          <p:nvPr/>
        </p:nvSpPr>
        <p:spPr>
          <a:xfrm>
            <a:off x="762000" y="45720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76F51"/>
                </a:solidFill>
                <a:latin typeface="MiSans"/>
                <a:ea typeface="MiSans"/>
              </a:rPr>
              <a:t>03</a:t>
            </a:r>
            <a:endParaRPr lang="en-US" sz="2000" noProof="1"/>
          </a:p>
        </p:txBody>
      </p:sp>
      <p:sp>
        <p:nvSpPr>
          <p:cNvPr id="12" name="p3-title"/>
          <p:cNvSpPr txBox="1"/>
          <p:nvPr/>
        </p:nvSpPr>
        <p:spPr>
          <a:xfrm>
            <a:off x="1333500" y="45974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核心企业信用传不到下游</a:t>
            </a:r>
            <a:endParaRPr lang="en-US" sz="1600" noProof="1"/>
          </a:p>
        </p:txBody>
      </p:sp>
      <p:sp>
        <p:nvSpPr>
          <p:cNvPr id="13" name="p3-body"/>
          <p:cNvSpPr txBox="1"/>
          <p:nvPr/>
        </p:nvSpPr>
        <p:spPr>
          <a:xfrm>
            <a:off x="1333500" y="4953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二级、三级供应商与核心企业没有直接合同，借不到核心企业的信用。</a:t>
            </a:r>
            <a:endParaRPr lang="en-US" sz="1400" noProof="1"/>
          </a:p>
        </p:txBody>
      </p:sp>
      <p:sp>
        <p:nvSpPr>
          <p:cNvPr id="14" name="vline"/>
          <p:cNvSpPr/>
          <p:nvPr>
            <p:extLst>
              <p:ext uri="{F5677B7D-0D2A-4D9B-9A5C-6D8D7D0E5A5D}">
                <pptd:line encoding="base64url">eyJ2aWV3Qm94IjpbMSwzMzBdLCJwb2ludHMiOiIwLDAgMCwzMzAifQ</pptd:line>
              </p:ext>
            </p:extLst>
          </p:nvPr>
        </p:nvSpPr>
        <p:spPr>
          <a:xfrm>
            <a:off x="6413500" y="1651000"/>
            <a:ext cx="12700" cy="4191000"/>
          </a:xfrm>
          <a:custGeom>
            <a:avLst/>
            <a:gdLst/>
            <a:ahLst/>
            <a:cxnLst/>
            <a:rect l="l" t="t" r="r" b="b"/>
            <a:pathLst>
              <a:path w="1" h="330">
                <a:moveTo>
                  <a:pt x="0" y="0"/>
                </a:moveTo>
                <a:lnTo>
                  <a:pt x="0" y="33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5" name="g-title"/>
          <p:cNvSpPr txBox="1"/>
          <p:nvPr/>
        </p:nvSpPr>
        <p:spPr>
          <a:xfrm>
            <a:off x="6921500" y="16510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B2A32"/>
                </a:solidFill>
                <a:latin typeface="MiSans"/>
                <a:ea typeface="MiSans"/>
              </a:rPr>
              <a:t>产品目标（PRD §1.2）</a:t>
            </a:r>
            <a:endParaRPr lang="en-US" sz="1600" noProof="1"/>
          </a:p>
        </p:txBody>
      </p:sp>
      <p:sp>
        <p:nvSpPr>
          <p:cNvPr id="16" name="g-body"/>
          <p:cNvSpPr txBox="1"/>
          <p:nvPr/>
        </p:nvSpPr>
        <p:spPr>
          <a:xfrm>
            <a:off x="6921500" y="2095500"/>
            <a:ext cx="45085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快速放款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核心企业链上确认发票后，供应商几分钟内拿到银行放款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防重复融资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同一张发票只能登记一次、融资一次，重复提交一律拦截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信用可拆分转让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应收凭证按份额拆分给下一级供应商，信用向下传递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全流程存证与审计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关键操作链上留痕，审计员可随时穿透查看、冻结可疑凭证</a:t>
            </a:r>
            <a:endParaRPr lang="en-US" sz="1400" noProof="1"/>
          </a:p>
        </p:txBody>
      </p:sp>
      <p:sp>
        <p:nvSpPr>
          <p:cNvPr id="17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8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02 · 方案总览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把确认过的应收账款，变成可拆分、可融资的数字凭证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chain-note"/>
          <p:cNvSpPr txBox="1"/>
          <p:nvPr/>
        </p:nvSpPr>
        <p:spPr>
          <a:xfrm>
            <a:off x="762000" y="1498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演示主线（PRD §3）——每一步均为链上交易，链下留 PDF 与哈希</a:t>
            </a:r>
            <a:endParaRPr lang="en-US" sz="1100" noProof="1"/>
          </a:p>
        </p:txBody>
      </p:sp>
      <p:sp>
        <p:nvSpPr>
          <p:cNvPr id="6" name="ch1"/>
          <p:cNvSpPr/>
          <p:nvPr/>
        </p:nvSpPr>
        <p:spPr>
          <a:xfrm>
            <a:off x="7620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6F97"/>
          </a:solidFill>
          <a:ln>
            <a:noFill/>
          </a:ln>
        </p:spPr>
      </p:sp>
      <p:sp>
        <p:nvSpPr>
          <p:cNvPr id="7" name="ch1-t"/>
          <p:cNvSpPr txBox="1"/>
          <p:nvPr/>
        </p:nvSpPr>
        <p:spPr>
          <a:xfrm>
            <a:off x="7620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上传发票</a:t>
            </a:r>
            <a:endParaRPr lang="en-US" sz="1300" noProof="1"/>
          </a:p>
        </p:txBody>
      </p:sp>
      <p:sp>
        <p:nvSpPr>
          <p:cNvPr id="8" name="ch2"/>
          <p:cNvSpPr/>
          <p:nvPr/>
        </p:nvSpPr>
        <p:spPr>
          <a:xfrm>
            <a:off x="23368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6F97"/>
          </a:solidFill>
          <a:ln>
            <a:noFill/>
          </a:ln>
        </p:spPr>
      </p:sp>
      <p:sp>
        <p:nvSpPr>
          <p:cNvPr id="9" name="ch2-t"/>
          <p:cNvSpPr txBox="1"/>
          <p:nvPr/>
        </p:nvSpPr>
        <p:spPr>
          <a:xfrm>
            <a:off x="23368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核心企业确认</a:t>
            </a:r>
            <a:endParaRPr lang="en-US" sz="1300" noProof="1"/>
          </a:p>
        </p:txBody>
      </p:sp>
      <p:sp>
        <p:nvSpPr>
          <p:cNvPr id="10" name="ch3"/>
          <p:cNvSpPr/>
          <p:nvPr/>
        </p:nvSpPr>
        <p:spPr>
          <a:xfrm>
            <a:off x="39116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1" name="ch3-t"/>
          <p:cNvSpPr txBox="1"/>
          <p:nvPr/>
        </p:nvSpPr>
        <p:spPr>
          <a:xfrm>
            <a:off x="39116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铸造凭证</a:t>
            </a:r>
            <a:endParaRPr lang="en-US" sz="1300" noProof="1"/>
          </a:p>
        </p:txBody>
      </p:sp>
      <p:sp>
        <p:nvSpPr>
          <p:cNvPr id="12" name="ch4"/>
          <p:cNvSpPr/>
          <p:nvPr/>
        </p:nvSpPr>
        <p:spPr>
          <a:xfrm>
            <a:off x="54864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2A9D8F"/>
          </a:solidFill>
          <a:ln>
            <a:noFill/>
          </a:ln>
        </p:spPr>
      </p:sp>
      <p:sp>
        <p:nvSpPr>
          <p:cNvPr id="13" name="ch4-t"/>
          <p:cNvSpPr txBox="1"/>
          <p:nvPr/>
        </p:nvSpPr>
        <p:spPr>
          <a:xfrm>
            <a:off x="54864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拆分 / 融资</a:t>
            </a:r>
            <a:endParaRPr lang="en-US" sz="1300" noProof="1"/>
          </a:p>
        </p:txBody>
      </p:sp>
      <p:sp>
        <p:nvSpPr>
          <p:cNvPr id="14" name="ch5"/>
          <p:cNvSpPr/>
          <p:nvPr/>
        </p:nvSpPr>
        <p:spPr>
          <a:xfrm>
            <a:off x="70612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5" name="ch5-t"/>
          <p:cNvSpPr txBox="1"/>
          <p:nvPr/>
        </p:nvSpPr>
        <p:spPr>
          <a:xfrm>
            <a:off x="70612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报价 · 原子放款</a:t>
            </a:r>
            <a:endParaRPr lang="en-US" sz="1300" noProof="1"/>
          </a:p>
        </p:txBody>
      </p:sp>
      <p:sp>
        <p:nvSpPr>
          <p:cNvPr id="16" name="ch6"/>
          <p:cNvSpPr/>
          <p:nvPr/>
        </p:nvSpPr>
        <p:spPr>
          <a:xfrm>
            <a:off x="8636000" y="1879600"/>
            <a:ext cx="1498600" cy="685800"/>
          </a:xfrm>
          <a:prstGeom prst="homePlate">
            <a:avLst>
              <a:gd name="adj" fmla="val 2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7" name="ch6-t"/>
          <p:cNvSpPr txBox="1"/>
          <p:nvPr/>
        </p:nvSpPr>
        <p:spPr>
          <a:xfrm>
            <a:off x="8636000" y="1879600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到期付款</a:t>
            </a:r>
            <a:endParaRPr lang="en-US" sz="1300" noProof="1"/>
          </a:p>
        </p:txBody>
      </p:sp>
      <p:sp>
        <p:nvSpPr>
          <p:cNvPr id="18" name="ch7"/>
          <p:cNvSpPr/>
          <p:nvPr/>
        </p:nvSpPr>
        <p:spPr>
          <a:xfrm>
            <a:off x="10210800" y="1879600"/>
            <a:ext cx="1219200" cy="685800"/>
          </a:xfrm>
          <a:prstGeom prst="homePlate">
            <a:avLst>
              <a:gd name="adj" fmla="val 28000"/>
            </a:avLst>
          </a:prstGeom>
          <a:solidFill>
            <a:srgbClr val="1B2A32"/>
          </a:solidFill>
          <a:ln>
            <a:noFill/>
          </a:ln>
        </p:spPr>
      </p:sp>
      <p:sp>
        <p:nvSpPr>
          <p:cNvPr id="19" name="ch7-t"/>
          <p:cNvSpPr txBox="1"/>
          <p:nvPr/>
        </p:nvSpPr>
        <p:spPr>
          <a:xfrm>
            <a:off x="10210800" y="1879600"/>
            <a:ext cx="1117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兑付闭环</a:t>
            </a:r>
            <a:endParaRPr lang="en-US" sz="1300" noProof="1"/>
          </a:p>
        </p:txBody>
      </p:sp>
      <p:sp>
        <p:nvSpPr>
          <p:cNvPr id="20" name="roles-title"/>
          <p:cNvSpPr txBox="1"/>
          <p:nvPr/>
        </p:nvSpPr>
        <p:spPr>
          <a:xfrm>
            <a:off x="762000" y="3022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五种角色，一条链</a:t>
            </a:r>
            <a:endParaRPr lang="en-US" sz="1500" noProof="1"/>
          </a:p>
        </p:txBody>
      </p:sp>
      <p:sp>
        <p:nvSpPr>
          <p:cNvPr id="21" name="roles"/>
          <p:cNvSpPr txBox="1"/>
          <p:nvPr/>
        </p:nvSpPr>
        <p:spPr>
          <a:xfrm>
            <a:off x="762000" y="3403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2A6F97"/>
                </a:solidFill>
                <a:latin typeface="MiSans"/>
                <a:ea typeface="MiSans"/>
              </a:rPr>
              <a:t>供应商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上传发票、拆分转让、发起融资　　</a:t>
            </a:r>
            <a:r>
              <a:rPr lang="en-US" sz="1400" noProof="1" b="1">
                <a:solidFill>
                  <a:srgbClr val="2A9D8F"/>
                </a:solidFill>
                <a:latin typeface="MiSans"/>
                <a:ea typeface="MiSans"/>
              </a:rPr>
              <a:t>核心企业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确认发票、到期付款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E76F51"/>
                </a:solidFill>
                <a:latin typeface="MiSans"/>
                <a:ea typeface="MiSans"/>
              </a:rPr>
              <a:t>资金方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报价放款、标记逾期　　</a:t>
            </a:r>
            <a:r>
              <a:rPr lang="en-US" sz="1400" noProof="1" b="1">
                <a:solidFill>
                  <a:srgbClr val="6B7280"/>
                </a:solidFill>
                <a:latin typeface="MiSans"/>
                <a:ea typeface="MiSans"/>
              </a:rPr>
              <a:t>审计员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穿透追踪、冻结凭证　　</a:t>
            </a: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管理员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审核入驻、紧急暂停</a:t>
            </a:r>
            <a:endParaRPr lang="en-US" sz="1400" noProof="1"/>
          </a:p>
        </p:txBody>
      </p:sp>
      <p:sp>
        <p:nvSpPr>
          <p:cNvPr id="22" name="nums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45212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23" name="n1"/>
          <p:cNvSpPr txBox="1"/>
          <p:nvPr/>
        </p:nvSpPr>
        <p:spPr>
          <a:xfrm>
            <a:off x="762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种角色权限</a:t>
            </a:r>
            <a:endParaRPr lang="en-US" sz="1600" noProof="1"/>
          </a:p>
        </p:txBody>
      </p:sp>
      <p:sp>
        <p:nvSpPr>
          <p:cNvPr id="24" name="n2"/>
          <p:cNvSpPr txBox="1"/>
          <p:nvPr/>
        </p:nvSpPr>
        <p:spPr>
          <a:xfrm>
            <a:off x="2603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20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种链上交易</a:t>
            </a:r>
            <a:endParaRPr lang="en-US" sz="1600" noProof="1"/>
          </a:p>
        </p:txBody>
      </p:sp>
      <p:sp>
        <p:nvSpPr>
          <p:cNvPr id="25" name="n3"/>
          <p:cNvSpPr txBox="1"/>
          <p:nvPr/>
        </p:nvSpPr>
        <p:spPr>
          <a:xfrm>
            <a:off x="4445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26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个功能点</a:t>
            </a:r>
            <a:endParaRPr lang="en-US" sz="1600" noProof="1"/>
          </a:p>
        </p:txBody>
      </p:sp>
      <p:sp>
        <p:nvSpPr>
          <p:cNvPr id="26" name="n4"/>
          <p:cNvSpPr txBox="1"/>
          <p:nvPr/>
        </p:nvSpPr>
        <p:spPr>
          <a:xfrm>
            <a:off x="6286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5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个智能合约</a:t>
            </a:r>
            <a:endParaRPr lang="en-US" sz="1600" noProof="1"/>
          </a:p>
        </p:txBody>
      </p:sp>
      <p:sp>
        <p:nvSpPr>
          <p:cNvPr id="27" name="n5"/>
          <p:cNvSpPr txBox="1"/>
          <p:nvPr/>
        </p:nvSpPr>
        <p:spPr>
          <a:xfrm>
            <a:off x="81280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19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个前端页面</a:t>
            </a:r>
            <a:endParaRPr lang="en-US" sz="1600" noProof="1"/>
          </a:p>
        </p:txBody>
      </p:sp>
      <p:sp>
        <p:nvSpPr>
          <p:cNvPr id="28" name="n6"/>
          <p:cNvSpPr txBox="1"/>
          <p:nvPr/>
        </p:nvSpPr>
        <p:spPr>
          <a:xfrm>
            <a:off x="9969500" y="4775200"/>
            <a:ext cx="165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E76F51"/>
                </a:solidFill>
                <a:latin typeface="MiSans"/>
                <a:ea typeface="MiSans"/>
              </a:rPr>
              <a:t>7</a:t>
            </a:r>
            <a:endParaRPr lang="en-US" sz="1600" noProof="1"/>
          </a:p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张业务数据表</a:t>
            </a:r>
            <a:endParaRPr lang="en-US" sz="1600" noProof="1"/>
          </a:p>
        </p:txBody>
      </p:sp>
      <p:sp>
        <p:nvSpPr>
          <p:cNvPr id="2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3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03 · 系统架构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链上管钱和凭证，链下管文件和查询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arch-img"/>
          <p:cNvPicPr/>
          <p:nvPr/>
        </p:nvPicPr>
        <p:blipFill>
          <a:blip r:embed="rId2"/>
          <a:srcRect l="-13029" r="-13029"/>
          <a:stretch>
            <a:fillRect/>
          </a:stretch>
        </p:blipFill>
        <p:spPr>
          <a:xfrm>
            <a:off x="889000" y="1473200"/>
            <a:ext cx="4191000" cy="49022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5588000" y="1651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前端不经过后端发交易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用户经 MetaMask 直连 Sepolia 合约；后端不接触私钥，只提供 REST 查询与缓存。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5588000" y="285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发票 PDF 存链下、哈希存链上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确认前人人可校验文件未被篡改，兼顾合规存证与 Gas 成本。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5588000" y="40640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Web3.py 事件监听器持续同步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TransferSingle 等事件落到 7 张业务表，支撑仪表盘与审计查询。</a:t>
            </a:r>
            <a:endParaRPr lang="en-US" sz="1400" noProof="1"/>
          </a:p>
        </p:txBody>
      </p:sp>
      <p:sp>
        <p:nvSpPr>
          <p:cNvPr id="9" name="pt4"/>
          <p:cNvSpPr txBox="1"/>
          <p:nvPr/>
        </p:nvSpPr>
        <p:spPr>
          <a:xfrm>
            <a:off x="5588000" y="52705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五个合约相互调用满足课程要求；Render 托管 Flask 服务。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图源：docs/designs/diagrams/01-system-architecture.mmd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04 · 智能合约设计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五个合约各司其职，权限与暂停由 RoleManager 统一收口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graphicFrame>
        <p:nvGraphicFramePr>
          <p:cNvPr id="5" name="ct"/>
          <p:cNvGraphicFramePr>
            <a:graphicFrameLocks noGrp="1"/>
          </p:cNvGraphicFramePr>
          <p:nvPr/>
        </p:nvGraphicFramePr>
        <p:xfrm>
          <a:off x="762000" y="1574800"/>
          <a:ext cx="10668000" cy="3683000"/>
        </p:xfrm>
        <a:graphic>
          <a:graphicData uri="http://schemas.openxmlformats.org/drawingml/2006/table">
            <a:tbl>
              <a:tblPr/>
              <a:tblGrid>
                <a:gridCol w="2560320"/>
                <a:gridCol w="8107680"/>
              </a:tblGrid>
              <a:tr h="61137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RoleManager.sol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五种角色（供应商 / 核心企业 / 资金方 / 审计员 / 管理员）权限授予与吊销，全局紧急暂停开关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137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InvoiceRegistry.sol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发票登记与去重键查重；核心企业确认后联动铸造等额应收凭证，拒绝后释放去重键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ReceivableToken.sol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ERC-1155 应收凭证：按份额拆分转让、审计员冻结/解冻；仅 Registry 可铸、仅 Pool 可销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FinancingPool.sol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融资申请（凭证托管）、报价锁资、原子化成交、到期还款入池、兑付与逾期标记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MockStablecoin.sol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ERC-20 测试稳定币 mUSD，faucet 水龙头供演示领取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615061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安全基线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全部转账函数 nonReentrant + 先改状态后发事件；Slither 静态检查无高危/中危问题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62000" y="558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暂停期间：管理员的角色操作与审计员的冻结/解冻仍可执行（应急处置），其余写操作一律拒绝；查询不受影响。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合约间调用关系见下一页时序图；ABI 与查询函数定义见 contracts/abi 与 contracts/docs/interface.md。</a:t>
            </a:r>
            <a:endParaRPr lang="en-US" sz="1100" noProof="1"/>
          </a:p>
        </p:txBody>
      </p:sp>
      <p:sp>
        <p:nvSpPr>
          <p:cNvPr id="7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8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05 · 核心机制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防重复融资：登记查重、托管锁定、转让限制三道闸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g1-num"/>
          <p:cNvSpPr txBox="1"/>
          <p:nvPr/>
        </p:nvSpPr>
        <p:spPr>
          <a:xfrm>
            <a:off x="76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闸口一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登记查重 · InvoiceRegistry</a:t>
            </a:r>
            <a:endParaRPr lang="en-US" sz="1600" noProof="1"/>
          </a:p>
        </p:txBody>
      </p:sp>
      <p:sp>
        <p:nvSpPr>
          <p:cNvPr id="6" name="g1-body"/>
          <p:cNvSpPr txBox="1"/>
          <p:nvPr/>
        </p:nvSpPr>
        <p:spPr>
          <a:xfrm>
            <a:off x="76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合约按「发票号 + 买方 + 卖方 + 金额」生成去重键。同组合再次提交时直接 revert：InvoiceAlreadyExists，交易不会上链。</a:t>
            </a:r>
            <a:endParaRPr lang="en-US" sz="1400" noProof="1"/>
          </a:p>
        </p:txBody>
      </p:sp>
      <p:sp>
        <p:nvSpPr>
          <p:cNvPr id="7" name="vline1"/>
          <p:cNvSpPr/>
          <p:nvPr>
            <p:extLst>
              <p:ext uri="{F5677B7D-0D2A-4D9B-9A5C-6D8D7D0E5A5D}">
                <pptd:line encoding="base64url">eyJ2aWV3Qm94IjpbMSwyNjBdLCJwb2ludHMiOiIwLDAgMCwyNjAifQ</pptd:line>
              </p:ext>
            </p:extLst>
          </p:nvPr>
        </p:nvSpPr>
        <p:spPr>
          <a:xfrm>
            <a:off x="4191000" y="16764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0" y="0"/>
                </a:moveTo>
                <a:lnTo>
                  <a:pt x="0" y="26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8" name="g2-num"/>
          <p:cNvSpPr txBox="1"/>
          <p:nvPr/>
        </p:nvSpPr>
        <p:spPr>
          <a:xfrm>
            <a:off x="457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闸口二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托管锁定 · FinancingPool</a:t>
            </a:r>
            <a:endParaRPr lang="en-US" sz="1600" noProof="1"/>
          </a:p>
        </p:txBody>
      </p:sp>
      <p:sp>
        <p:nvSpPr>
          <p:cNvPr id="9" name="g2-body"/>
          <p:cNvSpPr txBox="1"/>
          <p:nvPr/>
        </p:nvSpPr>
        <p:spPr>
          <a:xfrm>
            <a:off x="457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申请融资时凭证自动转入池子托管，同一份额无法同时挂在两个申请下——双花质押在合约层被物理阻止。</a:t>
            </a:r>
            <a:endParaRPr lang="en-US" sz="1400" noProof="1"/>
          </a:p>
        </p:txBody>
      </p:sp>
      <p:sp>
        <p:nvSpPr>
          <p:cNvPr id="10" name="vline2"/>
          <p:cNvSpPr/>
          <p:nvPr>
            <p:extLst>
              <p:ext uri="{F5677B7D-0D2A-4D9B-9A5C-6D8D7D0E5A5D}">
                <pptd:line encoding="base64url">eyJ2aWV3Qm94IjpbMSwyNjBdLCJwb2ludHMiOiIwLDAgMCwyNjAifQ</pptd:line>
              </p:ext>
            </p:extLst>
          </p:nvPr>
        </p:nvSpPr>
        <p:spPr>
          <a:xfrm>
            <a:off x="8001000" y="1676400"/>
            <a:ext cx="12700" cy="3302000"/>
          </a:xfrm>
          <a:custGeom>
            <a:avLst/>
            <a:gdLst/>
            <a:ahLst/>
            <a:cxnLst/>
            <a:rect l="l" t="t" r="r" b="b"/>
            <a:pathLst>
              <a:path w="1" h="260">
                <a:moveTo>
                  <a:pt x="0" y="0"/>
                </a:moveTo>
                <a:lnTo>
                  <a:pt x="0" y="26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1" name="g3-num"/>
          <p:cNvSpPr txBox="1"/>
          <p:nvPr/>
        </p:nvSpPr>
        <p:spPr>
          <a:xfrm>
            <a:off x="8382000" y="1676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E76F51"/>
                </a:solidFill>
                <a:latin typeface="MiSans"/>
                <a:ea typeface="MiSans"/>
              </a:rPr>
              <a:t>闸口三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B2A32"/>
                </a:solidFill>
                <a:latin typeface="MiSans"/>
                <a:ea typeface="MiSans"/>
              </a:rPr>
              <a:t>转让限制 · ReceivableToken</a:t>
            </a:r>
            <a:endParaRPr lang="en-US" sz="1600" noProof="1"/>
          </a:p>
        </p:txBody>
      </p:sp>
      <p:sp>
        <p:nvSpPr>
          <p:cNvPr id="12" name="g3-body"/>
          <p:cNvSpPr txBox="1"/>
          <p:nvPr/>
        </p:nvSpPr>
        <p:spPr>
          <a:xfrm>
            <a:off x="8382000" y="2743200"/>
            <a:ext cx="3048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资金方受让凭证后不可再转让，只能持有至兑付，杜绝「同一凭证多层转卖重复融资」。</a:t>
            </a:r>
            <a:endParaRPr lang="en-US" sz="1400" noProof="1"/>
          </a:p>
        </p:txBody>
      </p:sp>
      <p:sp>
        <p:nvSpPr>
          <p:cNvPr id="13" name="bottom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53340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4" name="bottom"/>
          <p:cNvSpPr txBox="1"/>
          <p:nvPr/>
        </p:nvSpPr>
        <p:spPr>
          <a:xfrm>
            <a:off x="762000" y="5562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不误杀的细节：发票被拒绝后合约</a:t>
            </a: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释放去重键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，供应商改正信息后可原号重提；逾期后仍可付款，状态由 Overdue 回到 Repaid。</a:t>
            </a:r>
            <a:endParaRPr lang="en-US" sz="1400" noProof="1"/>
          </a:p>
        </p:txBody>
      </p:sp>
      <p:sp>
        <p:nvSpPr>
          <p:cNvPr id="15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6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06 · 合约交互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从登记到兑付的完整链上时序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seq-img"/>
          <p:cNvPicPr/>
          <p:nvPr/>
        </p:nvPicPr>
        <p:blipFill>
          <a:blip r:embed="rId2"/>
          <a:srcRect l="-14460" r="-14460"/>
          <a:stretch>
            <a:fillRect/>
          </a:stretch>
        </p:blipFill>
        <p:spPr>
          <a:xfrm>
            <a:off x="762000" y="1422400"/>
            <a:ext cx="5969000" cy="49784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7112000" y="1651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确认即确权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confirmInvoice 一笔交易内完成 InvoiceConfirmed 与 ReceivableMinted，凭证自动到供应商账上。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7112000" y="31115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成交是原子的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acceptQuote 在同一笔交易里完成「凭证划转 + mUSD 转账」，任一步失败整笔回滚，没有中间状态。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7112000" y="4572000"/>
            <a:ext cx="4318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报价先锁资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submitQuote 要求资金方先 approve 并锁定资金，供应商接受时不会因余额不足而失败。</a:t>
            </a:r>
            <a:endParaRPr lang="en-US" sz="1400" noProof="1"/>
          </a:p>
        </p:txBody>
      </p:sp>
      <p:sp>
        <p:nvSpPr>
          <p:cNvPr id="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07 · 业务流程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一条主线，四个可回退分支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step1"/>
          <p:cNvSpPr txBox="1"/>
          <p:nvPr/>
        </p:nvSpPr>
        <p:spPr>
          <a:xfrm>
            <a:off x="7620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1 · 供应商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上传发票上链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PDF 存链下，哈希上链；查重拦截重复发票</a:t>
            </a:r>
            <a:endParaRPr lang="en-US" sz="1600" noProof="1"/>
          </a:p>
        </p:txBody>
      </p:sp>
      <p:sp>
        <p:nvSpPr>
          <p:cNvPr id="6" name="ar1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32385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7" name="step2"/>
          <p:cNvSpPr txBox="1"/>
          <p:nvPr/>
        </p:nvSpPr>
        <p:spPr>
          <a:xfrm>
            <a:off x="36322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2 · 核心企业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确认发票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核验 PDF 与哈希；确认即铸造等额凭证</a:t>
            </a:r>
            <a:endParaRPr lang="en-US" sz="1600" noProof="1"/>
          </a:p>
        </p:txBody>
      </p:sp>
      <p:sp>
        <p:nvSpPr>
          <p:cNvPr id="8" name="ar2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61087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9" name="step3"/>
          <p:cNvSpPr txBox="1"/>
          <p:nvPr/>
        </p:nvSpPr>
        <p:spPr>
          <a:xfrm>
            <a:off x="65024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3 · 供应商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拆分 / 融资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凭证可拆分转让；融资则托管进池</a:t>
            </a:r>
            <a:endParaRPr lang="en-US" sz="1600" noProof="1"/>
          </a:p>
        </p:txBody>
      </p:sp>
      <p:sp>
        <p:nvSpPr>
          <p:cNvPr id="10" name="ar3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8978900" y="19050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11" name="step4"/>
          <p:cNvSpPr txBox="1"/>
          <p:nvPr/>
        </p:nvSpPr>
        <p:spPr>
          <a:xfrm>
            <a:off x="9372600" y="15748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4 · 资金方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报价 · 放款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贴现率报价并锁资；接受即原子放款</a:t>
            </a:r>
            <a:endParaRPr lang="en-US" sz="1600" noProof="1"/>
          </a:p>
        </p:txBody>
      </p:sp>
      <p:sp>
        <p:nvSpPr>
          <p:cNvPr id="12" name="mid-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27178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13" name="step5"/>
          <p:cNvSpPr txBox="1"/>
          <p:nvPr/>
        </p:nvSpPr>
        <p:spPr>
          <a:xfrm>
            <a:off x="762000" y="29464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5 · 核心企业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到期付款入池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面值全额付入 FinancingPool</a:t>
            </a:r>
            <a:endParaRPr lang="en-US" sz="1600" noProof="1"/>
          </a:p>
        </p:txBody>
      </p:sp>
      <p:sp>
        <p:nvSpPr>
          <p:cNvPr id="14" name="ar5"/>
          <p:cNvSpPr/>
          <p:nvPr>
            <p:extLst>
              <p:ext uri="{F5677B7D-0D2A-4D9B-9A5C-6D8D7D0E5A5D}">
                <pptd:line encoding="base64url">eyJ2aWV3Qm94IjpbMjYsMV0sInBvaW50cyI6IjAsMCAyNiwwIn0</pptd:line>
              </p:ext>
            </p:extLst>
          </p:nvPr>
        </p:nvSpPr>
        <p:spPr>
          <a:xfrm>
            <a:off x="3238500" y="3276600"/>
            <a:ext cx="330200" cy="12700"/>
          </a:xfrm>
          <a:custGeom>
            <a:avLst/>
            <a:gdLst/>
            <a:ahLst/>
            <a:cxnLst/>
            <a:rect l="l" t="t" r="r" b="b"/>
            <a:pathLst>
              <a:path w="26" h="1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9050" cap="rnd">
            <a:solidFill>
              <a:srgbClr val="6B7280"/>
            </a:solidFill>
            <a:round/>
            <a:tailEnd type="arrow"/>
          </a:ln>
        </p:spPr>
      </p:sp>
      <p:sp>
        <p:nvSpPr>
          <p:cNvPr id="15" name="step6"/>
          <p:cNvSpPr txBox="1"/>
          <p:nvPr/>
        </p:nvSpPr>
        <p:spPr>
          <a:xfrm>
            <a:off x="3632200" y="2946400"/>
            <a:ext cx="241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E76F51"/>
                </a:solidFill>
                <a:latin typeface="MiSans"/>
                <a:ea typeface="MiSans"/>
              </a:rPr>
              <a:t>STEP 6 · 持有人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1B2A32"/>
                </a:solidFill>
                <a:latin typeface="MiSans"/>
                <a:ea typeface="MiSans"/>
              </a:rPr>
              <a:t>兑付闭环</a:t>
            </a:r>
            <a:endParaRPr lang="en-US" sz="1600" noProof="1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销毁凭证，按 1:1 领取 mUSD</a:t>
            </a:r>
            <a:endParaRPr lang="en-US" sz="1600" noProof="1"/>
          </a:p>
        </p:txBody>
      </p:sp>
      <p:sp>
        <p:nvSpPr>
          <p:cNvPr id="16" name="branch-title"/>
          <p:cNvSpPr txBox="1"/>
          <p:nvPr/>
        </p:nvSpPr>
        <p:spPr>
          <a:xfrm>
            <a:off x="6858000" y="29464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分支与异常路径（链上处理）</a:t>
            </a:r>
            <a:endParaRPr lang="en-US" sz="1400" noProof="1"/>
          </a:p>
        </p:txBody>
      </p:sp>
      <p:sp>
        <p:nvSpPr>
          <p:cNvPr id="17" name="branches"/>
          <p:cNvSpPr txBox="1"/>
          <p:nvPr/>
        </p:nvSpPr>
        <p:spPr>
          <a:xfrm>
            <a:off x="6858000" y="33274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拒绝发票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需填原因，释放去重键后可重提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取消申请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接受报价前可取消，凭证退回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逾期未付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资金方标记逾期；逾期仍可付款后兑付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审计冻结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任意时点冻结/解冻，冻结禁止转让融资兑付</a:t>
            </a:r>
            <a:endParaRPr lang="en-US" sz="1400" noProof="1"/>
          </a:p>
        </p:txBody>
      </p:sp>
      <p:sp>
        <p:nvSpPr>
          <p:cNvPr id="18" name="note"/>
          <p:cNvSpPr txBox="1"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演示视频按 STEP 1–6 主线推进；完整分支见 docs/designs/diagrams/04-business-flow.mmd（含冻结并发的审计旁路）。</a:t>
            </a:r>
            <a:endParaRPr lang="en-US" sz="1100" noProof="1"/>
          </a:p>
        </p:txBody>
      </p:sp>
      <p:sp>
        <p:nvSpPr>
          <p:cNvPr id="19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20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08 · 界面设计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19 个页面覆盖五种角色，操作前先看 Gas、失败必给原因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wf1"/>
          <p:cNvPicPr/>
          <p:nvPr/>
        </p:nvPicPr>
        <p:blipFill>
          <a:blip r:embed="rId2"/>
          <a:srcRect t="-68" b="-68"/>
          <a:stretch>
            <a:fillRect/>
          </a:stretch>
        </p:blipFill>
        <p:spPr>
          <a:xfrm>
            <a:off x="7620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6" name="wf1-border"/>
          <p:cNvSpPr/>
          <p:nvPr/>
        </p:nvSpPr>
        <p:spPr>
          <a:xfrm>
            <a:off x="7620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wf1-cap"/>
          <p:cNvSpPr txBox="1"/>
          <p:nvPr/>
        </p:nvSpPr>
        <p:spPr>
          <a:xfrm>
            <a:off x="7620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供应商仪表盘 · 凭证/融资/待办</a:t>
            </a:r>
            <a:endParaRPr lang="en-US" sz="1100" noProof="1"/>
          </a:p>
        </p:txBody>
      </p:sp>
      <p:pic>
        <p:nvPicPr>
          <p:cNvPr id="8" name="wf2"/>
          <p:cNvPicPr/>
          <p:nvPr/>
        </p:nvPicPr>
        <p:blipFill>
          <a:blip r:embed="rId3"/>
          <a:srcRect t="-68" b="-68"/>
          <a:stretch>
            <a:fillRect/>
          </a:stretch>
        </p:blipFill>
        <p:spPr>
          <a:xfrm>
            <a:off x="43688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9" name="wf2-border"/>
          <p:cNvSpPr/>
          <p:nvPr/>
        </p:nvSpPr>
        <p:spPr>
          <a:xfrm>
            <a:off x="43688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0" name="wf2-cap"/>
          <p:cNvSpPr txBox="1"/>
          <p:nvPr/>
        </p:nvSpPr>
        <p:spPr>
          <a:xfrm>
            <a:off x="43688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核心企业 · 预览核验后确认/拒绝</a:t>
            </a:r>
            <a:endParaRPr lang="en-US" sz="1100" noProof="1"/>
          </a:p>
        </p:txBody>
      </p:sp>
      <p:pic>
        <p:nvPicPr>
          <p:cNvPr id="11" name="wf3"/>
          <p:cNvPicPr/>
          <p:nvPr/>
        </p:nvPicPr>
        <p:blipFill>
          <a:blip r:embed="rId4"/>
          <a:srcRect t="-68" b="-68"/>
          <a:stretch>
            <a:fillRect/>
          </a:stretch>
        </p:blipFill>
        <p:spPr>
          <a:xfrm>
            <a:off x="7975600" y="1498600"/>
            <a:ext cx="3454400" cy="2324100"/>
          </a:xfrm>
          <a:prstGeom prst="rect">
            <a:avLst/>
          </a:prstGeom>
          <a:ln>
            <a:noFill/>
          </a:ln>
        </p:spPr>
      </p:pic>
      <p:sp>
        <p:nvSpPr>
          <p:cNvPr id="12" name="wf3-border"/>
          <p:cNvSpPr/>
          <p:nvPr/>
        </p:nvSpPr>
        <p:spPr>
          <a:xfrm>
            <a:off x="7975600" y="1498600"/>
            <a:ext cx="3454400" cy="23241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3" name="wf3-cap"/>
          <p:cNvSpPr txBox="1"/>
          <p:nvPr/>
        </p:nvSpPr>
        <p:spPr>
          <a:xfrm>
            <a:off x="7975600" y="3886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资金方 · 贴现报价实时预览</a:t>
            </a:r>
            <a:endParaRPr lang="en-US" sz="1100" noProof="1"/>
          </a:p>
        </p:txBody>
      </p:sp>
      <p:sp>
        <p:nvSpPr>
          <p:cNvPr id="14" name="pts"/>
          <p:cNvSpPr txBox="1"/>
          <p:nvPr/>
        </p:nvSpPr>
        <p:spPr>
          <a:xfrm>
            <a:off x="762000" y="44196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交互规范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每次上链前显示 Gas 预估；交易四阶段反馈（签名 → 广播 → 确认 → 结果）；失败时解析合约 custom error 给出人话提示。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设计交付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19 张线框图（docs/designs/wireframes/）作为前端实现参考，每张标注了对应的验收功能编号。</a:t>
            </a:r>
            <a:endParaRPr lang="en-US" sz="1400" noProof="1"/>
          </a:p>
        </p:txBody>
      </p:sp>
      <p:sp>
        <p:nvSpPr>
          <p:cNvPr id="15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6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09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09 · 数据模型与后端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7 张业务表回答「谁持有什么」，事件同步回答「链上发生了什么」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pic>
        <p:nvPicPr>
          <p:cNvPr id="5" name="er-img"/>
          <p:cNvPicPr/>
          <p:nvPr/>
        </p:nvPicPr>
        <p:blipFill>
          <a:blip r:embed="rId2"/>
          <a:srcRect l="-4573" r="-4573"/>
          <a:stretch>
            <a:fillRect/>
          </a:stretch>
        </p:blipFill>
        <p:spPr>
          <a:xfrm>
            <a:off x="889000" y="1473200"/>
            <a:ext cx="3810000" cy="4902200"/>
          </a:xfrm>
          <a:prstGeom prst="rect">
            <a:avLst/>
          </a:prstGeom>
          <a:ln>
            <a:noFill/>
          </a:ln>
        </p:spPr>
      </p:pic>
      <p:sp>
        <p:nvSpPr>
          <p:cNvPr id="6" name="pt1"/>
          <p:cNvSpPr txBox="1"/>
          <p:nvPr/>
        </p:nvSpPr>
        <p:spPr>
          <a:xfrm>
            <a:off x="5334000" y="16510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enterprises / invoices / financing_requests / quotes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支撑注册审核、发票管理与融资市场；</a:t>
            </a: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holdings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由 TransferSingle 事件汇总出「某地址持有哪些凭证」——合约不提供列表查询，这是后端的不可替代职责。</a:t>
            </a:r>
            <a:endParaRPr lang="en-US" sz="1400" noProof="1"/>
          </a:p>
        </p:txBody>
      </p:sp>
      <p:sp>
        <p:nvSpPr>
          <p:cNvPr id="7" name="pt2"/>
          <p:cNvSpPr txBox="1"/>
          <p:nvPr/>
        </p:nvSpPr>
        <p:spPr>
          <a:xfrm>
            <a:off x="5334000" y="29845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chain_events / sync_state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支撑审计：每条事件记录区块号、交易哈希与解析后的参数，sync_state 游标保证监听器断点续传、不丢不重。</a:t>
            </a:r>
            <a:endParaRPr lang="en-US" sz="1400" noProof="1"/>
          </a:p>
        </p:txBody>
      </p:sp>
      <p:sp>
        <p:nvSpPr>
          <p:cNvPr id="8" name="pt3"/>
          <p:cNvSpPr txBox="1"/>
          <p:nvPr/>
        </p:nvSpPr>
        <p:spPr>
          <a:xfrm>
            <a:off x="5334000" y="43180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后端不存私钥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，所有写操作由前端经 MetaMask 直连合约；后端只做文件存储（PDF + SHA-256）、事件同步与聚合查询，部署于 Render。</a:t>
            </a:r>
            <a:endParaRPr lang="en-US" sz="1400" noProof="1"/>
          </a:p>
        </p:txBody>
      </p:sp>
      <p:sp>
        <p:nvSpPr>
          <p:cNvPr id="9" name="pt4"/>
          <p:cNvSpPr txBox="1"/>
          <p:nvPr/>
        </p:nvSpPr>
        <p:spPr>
          <a:xfrm>
            <a:off x="5334000" y="56515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API 清单见 docs/PRD.md §7.2；ER 图源码见 docs/designs/diagrams/03-data-model.mmd。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10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10 · Gas 优化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存储打包 + 减少跨合约调用，主线交易 Gas 下降 15%–21%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graphicFrame>
        <p:nvGraphicFramePr>
          <p:cNvPr id="5" name="gas-chart"/>
          <p:cNvGraphicFramePr/>
          <p:nvPr/>
        </p:nvGraphicFramePr>
        <p:xfrm>
          <a:off x="762000" y="1574800"/>
          <a:ext cx="6604000" cy="4318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vline"/>
          <p:cNvSpPr/>
          <p:nvPr>
            <p:extLst>
              <p:ext uri="{F5677B7D-0D2A-4D9B-9A5C-6D8D7D0E5A5D}">
                <pptd:line encoding="base64url">eyJ2aWV3Qm94IjpbMSwzMjBdLCJwb2ludHMiOiIwLDAgMCwzMjAifQ</pptd:line>
              </p:ext>
            </p:extLst>
          </p:nvPr>
        </p:nvSpPr>
        <p:spPr>
          <a:xfrm>
            <a:off x="7747000" y="1651000"/>
            <a:ext cx="12700" cy="4064000"/>
          </a:xfrm>
          <a:custGeom>
            <a:avLst/>
            <a:gdLst/>
            <a:ahLst/>
            <a:cxnLst/>
            <a:rect l="l" t="t" r="r" b="b"/>
            <a:pathLst>
              <a:path w="1" h="320">
                <a:moveTo>
                  <a:pt x="0" y="0"/>
                </a:moveTo>
                <a:lnTo>
                  <a:pt x="0" y="32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7" name="s1"/>
          <p:cNvSpPr txBox="1"/>
          <p:nvPr/>
        </p:nvSpPr>
        <p:spPr>
          <a:xfrm>
            <a:off x="8128000" y="1778000"/>
            <a:ext cx="330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E76F51"/>
                </a:solidFill>
                <a:latin typeface="MiSans"/>
                <a:ea typeface="MiSans"/>
              </a:rPr>
              <a:t>-10.2%</a:t>
            </a:r>
            <a:endParaRPr lang="en-US" sz="1600" noProof="1"/>
          </a:p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18 个函数平均 Gas（92,801 → 83,326）</a:t>
            </a:r>
            <a:endParaRPr lang="en-US" sz="1600" noProof="1"/>
          </a:p>
        </p:txBody>
      </p:sp>
      <p:sp>
        <p:nvSpPr>
          <p:cNvPr id="8" name="s2"/>
          <p:cNvSpPr txBox="1"/>
          <p:nvPr/>
        </p:nvSpPr>
        <p:spPr>
          <a:xfrm>
            <a:off x="8128000" y="2921000"/>
            <a:ext cx="3302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手段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：存储槽打包（uint96 / uint64）、凭证元数据直接存 Token 减少跨合约读、去重键映射精简。</a:t>
            </a:r>
            <a:endParaRPr lang="en-US" sz="1400" noProof="1"/>
          </a:p>
        </p:txBody>
      </p:sp>
      <p:sp>
        <p:nvSpPr>
          <p:cNvPr id="9" name="s3"/>
          <p:cNvSpPr txBox="1"/>
          <p:nvPr/>
        </p:nvSpPr>
        <p:spPr>
          <a:xfrm>
            <a:off x="8128000" y="4191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数据来源：contracts/docs/gas/，Foundry 基准测试，Sepolia 复测口径。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优化后合约已重新部署，地址同步至前端与 ABI（提交 9d11af2 / d56bdc4）。</a:t>
            </a:r>
            <a:endParaRPr lang="en-US" sz="1100" noProof="1"/>
          </a:p>
        </p:txBody>
      </p:sp>
      <p:sp>
        <p:nvSpPr>
          <p:cNvPr id="10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1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431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11 · 部署与验证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1B2A32"/>
                </a:solidFill>
                <a:latin typeface="MiSans"/>
                <a:ea typeface="MiSans"/>
              </a:rPr>
              <a:t>已部署 Sepolia 测试网，功能测试与安全检查通过</a:t>
            </a:r>
            <a:endParaRPr lang="en-US" sz="2600" noProof="1"/>
          </a:p>
        </p:txBody>
      </p:sp>
      <p:sp>
        <p:nvSpPr>
          <p:cNvPr id="4" name="rule"/>
          <p:cNvSpPr/>
          <p:nvPr>
            <p:extLst>
              <p:ext uri="{F5677B7D-0D2A-4D9B-9A5C-6D8D7D0E5A5D}">
                <pptd:line encoding="base64url">eyJ2aWV3Qm94IjpbODQwLDFdLCJwb2ludHMiOiIwLDAgODQwLDAifQ</pptd:line>
              </p:ext>
            </p:extLst>
          </p:nvPr>
        </p:nvSpPr>
        <p:spPr>
          <a:xfrm>
            <a:off x="762000" y="1295400"/>
            <a:ext cx="10668000" cy="12700"/>
          </a:xfrm>
          <a:custGeom>
            <a:avLst/>
            <a:gdLst/>
            <a:ahLst/>
            <a:cxnLst/>
            <a:rect l="l" t="t" r="r" b="b"/>
            <a:pathLst>
              <a:path w="840" h="1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5" name="addr-title"/>
          <p:cNvSpPr txBox="1"/>
          <p:nvPr/>
        </p:nvSpPr>
        <p:spPr>
          <a:xfrm>
            <a:off x="762000" y="15748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Sepolia 合约地址（chainId 11155111）</a:t>
            </a:r>
            <a:endParaRPr lang="en-US" sz="1400" noProof="1"/>
          </a:p>
        </p:txBody>
      </p:sp>
      <p:graphicFrame>
        <p:nvGraphicFramePr>
          <p:cNvPr id="6" name="addr-table"/>
          <p:cNvGraphicFramePr>
            <a:graphicFrameLocks noGrp="1"/>
          </p:cNvGraphicFramePr>
          <p:nvPr/>
        </p:nvGraphicFramePr>
        <p:xfrm>
          <a:off x="762000" y="1955800"/>
          <a:ext cx="5588000" cy="2794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</a:tblGrid>
              <a:tr h="4638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RoleManager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0x82f8…B6a2E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InvoiceRegistry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0x3960…1eD7a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ReceivableToken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0x3c9E…0368f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FinancingPool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0x2bb0…985c6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659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MockStablecoin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0xE3C7…1E04F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  <a:tr h="4638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1B2A32"/>
                          </a:solidFill>
                          <a:latin typeface="Times New Roman"/>
                          <a:ea typeface="Times New Roman"/>
                        </a:rPr>
                        <a:t>起始区块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A4A54"/>
                          </a:solidFill>
                          <a:latin typeface="Times New Roman"/>
                          <a:ea typeface="Times New Roman"/>
                        </a:rPr>
                        <a:t>11,869,257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5E7EB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ddr-note"/>
          <p:cNvSpPr txBox="1"/>
          <p:nvPr/>
        </p:nvSpPr>
        <p:spPr>
          <a:xfrm>
            <a:off x="762000" y="4902200"/>
            <a:ext cx="558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完整地址以 contracts/deployments/11155111.json 为准；管理员地址 0x0ced…834f。</a:t>
            </a:r>
            <a:endParaRPr lang="en-US" sz="1100" noProof="1"/>
          </a:p>
        </p:txBody>
      </p:sp>
      <p:sp>
        <p:nvSpPr>
          <p:cNvPr id="8" name="vline"/>
          <p:cNvSpPr/>
          <p:nvPr>
            <p:extLst>
              <p:ext uri="{F5677B7D-0D2A-4D9B-9A5C-6D8D7D0E5A5D}">
                <pptd:line encoding="base64url">eyJ2aWV3Qm94IjpbMSwzMDBdLCJwb2ludHMiOiIwLDAgMCwzMDAifQ</pptd:line>
              </p:ext>
            </p:extLst>
          </p:nvPr>
        </p:nvSpPr>
        <p:spPr>
          <a:xfrm>
            <a:off x="6731000" y="1574800"/>
            <a:ext cx="12700" cy="3810000"/>
          </a:xfrm>
          <a:custGeom>
            <a:avLst/>
            <a:gdLst/>
            <a:ahLst/>
            <a:cxnLst/>
            <a:rect l="l" t="t" r="r" b="b"/>
            <a:pathLst>
              <a:path w="1" h="300">
                <a:moveTo>
                  <a:pt x="0" y="0"/>
                </a:move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E5E7EB"/>
            </a:solidFill>
            <a:round/>
          </a:ln>
        </p:spPr>
      </p:sp>
      <p:sp>
        <p:nvSpPr>
          <p:cNvPr id="9" name="val-title"/>
          <p:cNvSpPr txBox="1"/>
          <p:nvPr/>
        </p:nvSpPr>
        <p:spPr>
          <a:xfrm>
            <a:off x="7112000" y="15748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验证结论</a:t>
            </a:r>
            <a:endParaRPr lang="en-US" sz="1400" noProof="1"/>
          </a:p>
        </p:txBody>
      </p:sp>
      <p:sp>
        <p:nvSpPr>
          <p:cNvPr id="10" name="val-body"/>
          <p:cNvSpPr txBox="1"/>
          <p:nvPr/>
        </p:nvSpPr>
        <p:spPr>
          <a:xfrm>
            <a:off x="7112000" y="1981200"/>
            <a:ext cx="4318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功能测试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26 项功能用例在 Render 线上版本逐项执行（成员 6，测试报告见 docs/testing/）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合约测试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Foundry 单元测试覆盖 5 合约全部写函数与异常分支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静态检查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Slither 无高危/中危问题；custom error 全函数覆盖，前端可解析回退原因</a:t>
            </a:r>
            <a:endParaRPr lang="en-US" sz="1400" noProof="1"/>
          </a:p>
          <a:p>
            <a:pPr>
              <a:lnSpc>
                <a:spcPct val="155000"/>
              </a:lnSpc>
              <a:spcBef>
                <a:spcPts val="1200"/>
              </a:spcBef>
            </a:pPr>
            <a:r>
              <a:rPr lang="en-US" sz="1400" noProof="1" b="1">
                <a:solidFill>
                  <a:srgbClr val="3A4A54"/>
                </a:solidFill>
                <a:latin typeface="MiSans"/>
                <a:ea typeface="MiSans"/>
              </a:rPr>
              <a:t>云端部署</a:t>
            </a: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 —— Flask + Gunicorn 部署于 Render，事件监听器持续同步链上数据</a:t>
            </a:r>
            <a:endParaRPr lang="en-US" sz="1400" noProof="1"/>
          </a:p>
        </p:txBody>
      </p:sp>
      <p:sp>
        <p:nvSpPr>
          <p:cNvPr id="11" name="footer"/>
          <p:cNvSpPr txBox="1"/>
          <p:nvPr/>
        </p:nvSpPr>
        <p:spPr>
          <a:xfrm>
            <a:off x="762000" y="645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SC6113 · 供应链金融 DApp</a:t>
            </a:r>
            <a:endParaRPr lang="en-US" sz="1100" noProof="1"/>
          </a:p>
        </p:txBody>
      </p:sp>
      <p:sp>
        <p:nvSpPr>
          <p:cNvPr id="12" name="page-num"/>
          <p:cNvSpPr txBox="1"/>
          <p:nvPr/>
        </p:nvSpPr>
        <p:spPr>
          <a:xfrm>
            <a:off x="11176000" y="64516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12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89000" y="1524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76F51"/>
                </a:solidFill>
                <a:latin typeface="MiSans"/>
                <a:ea typeface="MiSans"/>
              </a:rPr>
              <a:t>总结 · SC6113 小组项目</a:t>
            </a:r>
            <a:endParaRPr lang="en-US" sz="1200" noProof="1"/>
          </a:p>
        </p:txBody>
      </p:sp>
      <p:sp>
        <p:nvSpPr>
          <p:cNvPr id="3" name="rule-top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889000" y="19304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38100" cap="rnd">
            <a:solidFill>
              <a:srgbClr val="E76F51"/>
            </a:solidFill>
            <a:round/>
          </a:ln>
        </p:spPr>
      </p:sp>
      <p:sp>
        <p:nvSpPr>
          <p:cNvPr id="4" name="title"/>
          <p:cNvSpPr txBox="1"/>
          <p:nvPr/>
        </p:nvSpPr>
        <p:spPr>
          <a:xfrm>
            <a:off x="889000" y="22225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1B2A32"/>
                </a:solidFill>
                <a:latin typeface="MiSans"/>
                <a:ea typeface="MiSans"/>
              </a:rPr>
              <a:t>从确权到兑付，一条链上闭环</a:t>
            </a:r>
            <a:endParaRPr lang="en-US" sz="3400" noProof="1"/>
          </a:p>
        </p:txBody>
      </p:sp>
      <p:sp>
        <p:nvSpPr>
          <p:cNvPr id="5" name="summary"/>
          <p:cNvSpPr txBox="1"/>
          <p:nvPr/>
        </p:nvSpPr>
        <p:spPr>
          <a:xfrm>
            <a:off x="889000" y="3238500"/>
            <a:ext cx="635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5 合约 + 20 种链上交易，覆盖登记、确权、流转、融资、还款、兑付全生命周期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查重、托管、限转三道闸，从机制上杜绝同一张发票重复融资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3A4A54"/>
                </a:solidFill>
                <a:latin typeface="MiSans"/>
                <a:ea typeface="MiSans"/>
              </a:rPr>
              <a:t>· 26 项功能 × 5 角色 × Sepolia 真实部署，端到端可演示</a:t>
            </a:r>
            <a:endParaRPr lang="en-US" sz="1400" noProof="1"/>
          </a:p>
        </p:txBody>
      </p:sp>
      <p:sp>
        <p:nvSpPr>
          <p:cNvPr id="6" name="team-title"/>
          <p:cNvSpPr txBox="1"/>
          <p:nvPr/>
        </p:nvSpPr>
        <p:spPr>
          <a:xfrm>
            <a:off x="7874000" y="22225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B2A32"/>
                </a:solidFill>
                <a:latin typeface="MiSans"/>
                <a:ea typeface="MiSans"/>
              </a:rPr>
              <a:t>团队分工</a:t>
            </a:r>
            <a:endParaRPr lang="en-US" sz="1400" noProof="1"/>
          </a:p>
        </p:txBody>
      </p:sp>
      <p:sp>
        <p:nvSpPr>
          <p:cNvPr id="7" name="team"/>
          <p:cNvSpPr txBox="1"/>
          <p:nvPr/>
        </p:nvSpPr>
        <p:spPr>
          <a:xfrm>
            <a:off x="7874000" y="2603500"/>
            <a:ext cx="3556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1 · 智能合约与测试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2 · 后端与部署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3 · 前端与 Web3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4 · 研究与技术报告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5 · 架构图 / PPT / 手册</a:t>
            </a:r>
            <a:endParaRPr lang="en-US" sz="1200" noProof="1"/>
          </a:p>
          <a:p>
            <a:pPr>
              <a:lnSpc>
                <a:spcPct val="175000"/>
              </a:lnSpc>
            </a:pPr>
            <a:r>
              <a:rPr lang="en-US" sz="1200" noProof="1">
                <a:solidFill>
                  <a:srgbClr val="3A4A54"/>
                </a:solidFill>
                <a:latin typeface="MiSans"/>
                <a:ea typeface="MiSans"/>
              </a:rPr>
              <a:t>成员 6 · 测试与演示视频</a:t>
            </a:r>
            <a:endParaRPr lang="en-US" sz="1200" noProof="1"/>
          </a:p>
        </p:txBody>
      </p:sp>
      <p:sp>
        <p:nvSpPr>
          <p:cNvPr id="8" name="qa"/>
          <p:cNvSpPr txBox="1"/>
          <p:nvPr/>
        </p:nvSpPr>
        <p:spPr>
          <a:xfrm>
            <a:off x="889000" y="5461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E76F51"/>
                </a:solidFill>
                <a:latin typeface="MiSans"/>
                <a:ea typeface="MiSans"/>
              </a:rPr>
              <a:t>Q &amp; A</a:t>
            </a:r>
            <a:endParaRPr lang="en-US" sz="2200" noProof="1"/>
          </a:p>
        </p:txBody>
      </p:sp>
      <p:sp>
        <p:nvSpPr>
          <p:cNvPr id="9" name="repo"/>
          <p:cNvSpPr txBox="1"/>
          <p:nvPr/>
        </p:nvSpPr>
        <p:spPr>
          <a:xfrm>
            <a:off x="4826000" y="55880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B7280"/>
                </a:solidFill>
                <a:latin typeface="MiSans"/>
                <a:ea typeface="MiSans"/>
              </a:rPr>
              <a:t>github.com/schow9527/supply-chain-finance-dapp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dc="http://purl.org/dc/elements/1.1/" xmlns:cp="http://schemas.openxmlformats.org/package/2006/metadata/core-properties">
  <dc:title>scf-dapp-demo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