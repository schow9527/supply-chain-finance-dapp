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harts/chart11_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charts/_rels/chart11_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_chart11_1.xlsx"/></Relationships>
</file>

<file path=ppt/charts/chart11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B9C2C9"/>
            </a:solidFill>
          </c:spPr>
          <c:cat>
            <c:strRef>
              <c:f>Sheet1!$A$2:$A$6</c:f>
              <c:strCache>
                <c:ptCount val="5"/>
                <c:pt idx="0">
                  <c:v>submitInvoice</c:v>
                </c:pt>
                <c:pt idx="1">
                  <c:v>confirmInvoice</c:v>
                </c:pt>
                <c:pt idx="2">
                  <c:v>requestFinancing</c:v>
                </c:pt>
                <c:pt idx="3">
                  <c:v>acceptQuote</c:v>
                </c:pt>
                <c:pt idx="4">
                  <c:v>redeem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219256</c:v>
                </c:pt>
                <c:pt idx="1">
                  <c:v>150356</c:v>
                </c:pt>
                <c:pt idx="2">
                  <c:v>171930</c:v>
                </c:pt>
                <c:pt idx="3">
                  <c:v>160852</c:v>
                </c:pt>
                <c:pt idx="4">
                  <c:v>66008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E76F51"/>
            </a:solidFill>
          </c:spPr>
          <c:cat>
            <c:strRef>
              <c:f>Sheet1!$A$2:$A$6</c:f>
              <c:strCache>
                <c:ptCount val="5"/>
                <c:pt idx="0">
                  <c:v>submitInvoice</c:v>
                </c:pt>
                <c:pt idx="1">
                  <c:v>confirmInvoice</c:v>
                </c:pt>
                <c:pt idx="2">
                  <c:v>requestFinancing</c:v>
                </c:pt>
                <c:pt idx="3">
                  <c:v>acceptQuote</c:v>
                </c:pt>
                <c:pt idx="4">
                  <c:v>redeem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173254</c:v>
                </c:pt>
                <c:pt idx="1">
                  <c:v>124931</c:v>
                </c:pt>
                <c:pt idx="2">
                  <c:v>145491</c:v>
                </c:pt>
                <c:pt idx="3">
                  <c:v>131343</c:v>
                </c:pt>
                <c:pt idx="4">
                  <c:v>64043</c:v>
                </c:pt>
              </c:numCache>
            </c:numRef>
          </c:val>
        </c:ser>
        <c:gapWidth val="56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C9CFD4"/>
            </a:solidFill>
          </a:ln>
        </c:spPr>
        <c:txPr>
          <a:bodyPr/>
          <a:lstStyle/>
          <a:p>
            <a:pPr>
              <a:defRPr sz="1100" noProof="1" b="0" i="0" u="none" strike="noStrike">
                <a:latin typeface="Arial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250000"/>
          <c:min val="0"/>
        </c:scaling>
        <c:delete val="0"/>
        <c:axPos val="l"/>
        <c:majorGridlines>
          <c:spPr>
            <a:ln w="12700">
              <a:solidFill>
                <a:srgbClr val="EEEFF1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100" noProof="1" b="0" i="0" u="none" strike="noStrike">
                <a:latin typeface="Arial"/>
              </a:defRPr>
            </a:pPr>
            <a:endParaRPr lang="en-US" noProof="1"/>
          </a:p>
        </c:txPr>
        <c:crossAx val="1"/>
        <c:crosses val="autoZero"/>
        <c:crossBetween val="between"/>
        <c:majorUnit val="50000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sz="1200" noProof="1" b="0" i="0" u="none" strike="noStrike">
              <a:latin typeface="Arial"/>
            </a:defRPr>
          </a:pPr>
          <a:endParaRPr lang="en-US" noProof="1"/>
        </a:p>
      </c:txPr>
    </c:legend>
    <c:plotVisOnly val="1"/>
    <c:dispBlanksAs val="gap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_1.png"/><Relationship Id="rId3" Type="http://schemas.openxmlformats.org/officeDocument/2006/relationships/image" Target="../media/image9_2.png"/><Relationship Id="rId4" Type="http://schemas.openxmlformats.org/officeDocument/2006/relationships/image" Target="../media/image9_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_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1_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89000" y="1524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NTU SC6113 · GROUP PROJECT DEMO</a:t>
            </a:r>
            <a:endParaRPr lang="en-US" sz="1200" noProof="1"/>
          </a:p>
        </p:txBody>
      </p:sp>
      <p:sp>
        <p:nvSpPr>
          <p:cNvPr id="3" name="rule-top"/>
          <p:cNvSpPr/>
          <p:nvPr>
            <p:extLst>
              <p:ext uri="{F5677B7D-0D2A-4D9B-9A5C-6D8D7D0E5A5D}">
                <pptd:line encoding="base64url">eyJ2aWV3Qm94IjpbMTIwLDJdLCJwb2ludHMiOiIwLDEgMTIwLDEifQ</pptd:line>
              </p:ext>
            </p:extLst>
          </p:nvPr>
        </p:nvSpPr>
        <p:spPr>
          <a:xfrm>
            <a:off x="889000" y="1930400"/>
            <a:ext cx="1524000" cy="25400"/>
          </a:xfrm>
          <a:custGeom>
            <a:avLst/>
            <a:gdLst/>
            <a:ahLst/>
            <a:cxnLst/>
            <a:rect l="l" t="t" r="r" b="b"/>
            <a:pathLst>
              <a:path w="120" h="2">
                <a:moveTo>
                  <a:pt x="0" y="1"/>
                </a:moveTo>
                <a:lnTo>
                  <a:pt x="120" y="1"/>
                </a:lnTo>
              </a:path>
            </a:pathLst>
          </a:custGeom>
          <a:noFill/>
          <a:ln w="38100" cap="rnd">
            <a:solidFill>
              <a:srgbClr val="E76F51"/>
            </a:solidFill>
            <a:round/>
          </a:ln>
        </p:spPr>
      </p:sp>
      <p:sp>
        <p:nvSpPr>
          <p:cNvPr id="4" name="title"/>
          <p:cNvSpPr txBox="1"/>
          <p:nvPr/>
        </p:nvSpPr>
        <p:spPr>
          <a:xfrm>
            <a:off x="889000" y="2222500"/>
            <a:ext cx="8890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400" noProof="1" b="1">
                <a:solidFill>
                  <a:srgbClr val="1B2A32"/>
                </a:solidFill>
                <a:latin typeface="MiSans"/>
                <a:ea typeface="MiSans"/>
              </a:rPr>
              <a:t>Supply Chain Finance DApp</a:t>
            </a:r>
            <a:endParaRPr lang="en-US" sz="4400" noProof="1"/>
          </a:p>
        </p:txBody>
      </p:sp>
      <p:sp>
        <p:nvSpPr>
          <p:cNvPr id="5" name="subtitle"/>
          <p:cNvSpPr txBox="1"/>
          <p:nvPr/>
        </p:nvSpPr>
        <p:spPr>
          <a:xfrm>
            <a:off x="889000" y="32385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3A4A54"/>
                </a:solidFill>
                <a:latin typeface="MiSans"/>
                <a:ea typeface="MiSans"/>
              </a:rPr>
              <a:t>Receivables on-chain · splittable &amp; transferable tokens · duplicate financing blocked by design</a:t>
            </a:r>
            <a:endParaRPr lang="en-US" sz="1800" noProof="1"/>
          </a:p>
        </p:txBody>
      </p:sp>
      <p:sp>
        <p:nvSpPr>
          <p:cNvPr id="6" name="meta"/>
          <p:cNvSpPr txBox="1"/>
          <p:nvPr/>
        </p:nvSpPr>
        <p:spPr>
          <a:xfrm>
            <a:off x="889000" y="4064000"/>
            <a:ext cx="9652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8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Stack: Solidity (ERC-1155 / ERC-20) · Python Flask · Ethers.js / MetaMask</a:t>
            </a:r>
            <a:endParaRPr lang="en-US" sz="1100" noProof="1"/>
          </a:p>
          <a:p>
            <a:pPr>
              <a:lnSpc>
                <a:spcPct val="18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Deployment: Ethereum Sepolia testnet · Render cloud</a:t>
            </a:r>
            <a:endParaRPr lang="en-US" sz="1100" noProof="1"/>
          </a:p>
        </p:txBody>
      </p:sp>
      <p:sp>
        <p:nvSpPr>
          <p:cNvPr id="7" name="footer-rule"/>
          <p:cNvSpPr/>
          <p:nvPr>
            <p:extLst>
              <p:ext uri="{F5677B7D-0D2A-4D9B-9A5C-6D8D7D0E5A5D}">
                <pptd:line encoding="base64url">eyJ2aWV3Qm94IjpbODIwLDFdLCJwb2ludHMiOiIwLDAgODIwLDAifQ</pptd:line>
              </p:ext>
            </p:extLst>
          </p:nvPr>
        </p:nvSpPr>
        <p:spPr>
          <a:xfrm>
            <a:off x="889000" y="5969000"/>
            <a:ext cx="10414000" cy="12700"/>
          </a:xfrm>
          <a:custGeom>
            <a:avLst/>
            <a:gdLst/>
            <a:ahLst/>
            <a:cxnLst/>
            <a:rect l="l" t="t" r="r" b="b"/>
            <a:pathLst>
              <a:path w="820" h="1">
                <a:moveTo>
                  <a:pt x="0" y="0"/>
                </a:moveTo>
                <a:lnTo>
                  <a:pt x="82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8" name="footer"/>
          <p:cNvSpPr txBox="1"/>
          <p:nvPr/>
        </p:nvSpPr>
        <p:spPr>
          <a:xfrm>
            <a:off x="889000" y="6121400"/>
            <a:ext cx="1041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Group Project · Oct 2026 · Demo storyline: invoice upload -&gt; confirmation -&gt; financing -&gt; funding -&gt; repayment -&gt; redemption</a:t>
            </a:r>
            <a:endParaRPr lang="en-US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01 · BACKGROUND &amp; PROBLEM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B2A32"/>
                </a:solidFill>
                <a:latin typeface="MiSans"/>
                <a:ea typeface="MiSans"/>
              </a:rPr>
              <a:t>SMEs wait months to get paid, and core-enterprise credit never reaches them</a:t>
            </a:r>
            <a:endParaRPr lang="en-US" sz="26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5" name="p1-num"/>
          <p:cNvSpPr txBox="1"/>
          <p:nvPr/>
        </p:nvSpPr>
        <p:spPr>
          <a:xfrm>
            <a:off x="762000" y="16510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E76F51"/>
                </a:solidFill>
                <a:latin typeface="MiSans"/>
                <a:ea typeface="MiSans"/>
              </a:rPr>
              <a:t>01</a:t>
            </a:r>
            <a:endParaRPr lang="en-US" sz="2000" noProof="1"/>
          </a:p>
        </p:txBody>
      </p:sp>
      <p:sp>
        <p:nvSpPr>
          <p:cNvPr id="6" name="p1-title"/>
          <p:cNvSpPr txBox="1"/>
          <p:nvPr/>
        </p:nvSpPr>
        <p:spPr>
          <a:xfrm>
            <a:off x="1333500" y="16764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B2A32"/>
                </a:solidFill>
                <a:latin typeface="MiSans"/>
                <a:ea typeface="MiSans"/>
              </a:rPr>
              <a:t>Slow payments lock up cash flow</a:t>
            </a:r>
            <a:endParaRPr lang="en-US" sz="1600" noProof="1"/>
          </a:p>
        </p:txBody>
      </p:sp>
      <p:sp>
        <p:nvSpPr>
          <p:cNvPr id="7" name="p1-body"/>
          <p:cNvSpPr txBox="1"/>
          <p:nvPr/>
        </p:nvSpPr>
        <p:spPr>
          <a:xfrm>
            <a:off x="1333500" y="2032000"/>
            <a:ext cx="4699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After delivering goods to a core enterprise, SMEs wait months for payment and lack short-term liquidity.</a:t>
            </a:r>
            <a:endParaRPr lang="en-US" sz="1400" noProof="1"/>
          </a:p>
        </p:txBody>
      </p:sp>
      <p:sp>
        <p:nvSpPr>
          <p:cNvPr id="8" name="p2-num"/>
          <p:cNvSpPr txBox="1"/>
          <p:nvPr/>
        </p:nvSpPr>
        <p:spPr>
          <a:xfrm>
            <a:off x="762000" y="31115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E76F51"/>
                </a:solidFill>
                <a:latin typeface="MiSans"/>
                <a:ea typeface="MiSans"/>
              </a:rPr>
              <a:t>02</a:t>
            </a:r>
            <a:endParaRPr lang="en-US" sz="2000" noProof="1"/>
          </a:p>
        </p:txBody>
      </p:sp>
      <p:sp>
        <p:nvSpPr>
          <p:cNvPr id="9" name="p2-title"/>
          <p:cNvSpPr txBox="1"/>
          <p:nvPr/>
        </p:nvSpPr>
        <p:spPr>
          <a:xfrm>
            <a:off x="1333500" y="31369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B2A32"/>
                </a:solidFill>
                <a:latin typeface="MiSans"/>
                <a:ea typeface="MiSans"/>
              </a:rPr>
              <a:t>Invoices cannot be verified across institutions</a:t>
            </a:r>
            <a:endParaRPr lang="en-US" sz="1600" noProof="1"/>
          </a:p>
        </p:txBody>
      </p:sp>
      <p:sp>
        <p:nvSpPr>
          <p:cNvPr id="10" name="p2-body"/>
          <p:cNvSpPr txBox="1"/>
          <p:nvPr/>
        </p:nvSpPr>
        <p:spPr>
          <a:xfrm>
            <a:off x="1333500" y="3492500"/>
            <a:ext cx="4699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The same invoice can be financed at multiple banks, and institutions do not share their data.</a:t>
            </a:r>
            <a:endParaRPr lang="en-US" sz="1400" noProof="1"/>
          </a:p>
        </p:txBody>
      </p:sp>
      <p:sp>
        <p:nvSpPr>
          <p:cNvPr id="11" name="p3-num"/>
          <p:cNvSpPr txBox="1"/>
          <p:nvPr/>
        </p:nvSpPr>
        <p:spPr>
          <a:xfrm>
            <a:off x="762000" y="45720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E76F51"/>
                </a:solidFill>
                <a:latin typeface="MiSans"/>
                <a:ea typeface="MiSans"/>
              </a:rPr>
              <a:t>03</a:t>
            </a:r>
            <a:endParaRPr lang="en-US" sz="2000" noProof="1"/>
          </a:p>
        </p:txBody>
      </p:sp>
      <p:sp>
        <p:nvSpPr>
          <p:cNvPr id="12" name="p3-title"/>
          <p:cNvSpPr txBox="1"/>
          <p:nvPr/>
        </p:nvSpPr>
        <p:spPr>
          <a:xfrm>
            <a:off x="1333500" y="45974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B2A32"/>
                </a:solidFill>
                <a:latin typeface="MiSans"/>
                <a:ea typeface="MiSans"/>
              </a:rPr>
              <a:t>Core-enterprise credit stops downstream</a:t>
            </a:r>
            <a:endParaRPr lang="en-US" sz="1600" noProof="1"/>
          </a:p>
        </p:txBody>
      </p:sp>
      <p:sp>
        <p:nvSpPr>
          <p:cNvPr id="13" name="p3-body"/>
          <p:cNvSpPr txBox="1"/>
          <p:nvPr/>
        </p:nvSpPr>
        <p:spPr>
          <a:xfrm>
            <a:off x="1333500" y="4953000"/>
            <a:ext cx="4699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Tier-2 and tier-3 suppliers have no direct contract with the core enterprise and cannot borrow its credit.</a:t>
            </a:r>
            <a:endParaRPr lang="en-US" sz="1400" noProof="1"/>
          </a:p>
        </p:txBody>
      </p:sp>
      <p:sp>
        <p:nvSpPr>
          <p:cNvPr id="14" name="vline"/>
          <p:cNvSpPr/>
          <p:nvPr>
            <p:extLst>
              <p:ext uri="{F5677B7D-0D2A-4D9B-9A5C-6D8D7D0E5A5D}">
                <pptd:line encoding="base64url">eyJ2aWV3Qm94IjpbMSwzMzBdLCJwb2ludHMiOiIwLDAgMCwzMzAifQ</pptd:line>
              </p:ext>
            </p:extLst>
          </p:nvPr>
        </p:nvSpPr>
        <p:spPr>
          <a:xfrm>
            <a:off x="6413500" y="1651000"/>
            <a:ext cx="12700" cy="4191000"/>
          </a:xfrm>
          <a:custGeom>
            <a:avLst/>
            <a:gdLst/>
            <a:ahLst/>
            <a:cxnLst/>
            <a:rect l="l" t="t" r="r" b="b"/>
            <a:pathLst>
              <a:path w="1" h="330">
                <a:moveTo>
                  <a:pt x="0" y="0"/>
                </a:moveTo>
                <a:lnTo>
                  <a:pt x="0" y="33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15" name="g-title"/>
          <p:cNvSpPr txBox="1"/>
          <p:nvPr/>
        </p:nvSpPr>
        <p:spPr>
          <a:xfrm>
            <a:off x="6921500" y="16510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B2A32"/>
                </a:solidFill>
                <a:latin typeface="MiSans"/>
                <a:ea typeface="MiSans"/>
              </a:rPr>
              <a:t>Product Goals (PRD 1.2)</a:t>
            </a:r>
            <a:endParaRPr lang="en-US" sz="1600" noProof="1"/>
          </a:p>
        </p:txBody>
      </p:sp>
      <p:sp>
        <p:nvSpPr>
          <p:cNvPr id="16" name="g-body"/>
          <p:cNvSpPr txBox="1"/>
          <p:nvPr/>
        </p:nvSpPr>
        <p:spPr>
          <a:xfrm>
            <a:off x="6921500" y="2095500"/>
            <a:ext cx="45085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Fast funding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 suppliers receive bank funding within minutes of on-chain invoice confirmation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1400"/>
              </a:spcBef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Duplicate-proof financing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 each invoice can be registered and financed exactly once; duplicates are rejected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1400"/>
              </a:spcBef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Splittable, transferable credit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 receivable tokens split into shares and flow downstream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1400"/>
              </a:spcBef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Full audit trail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 every key action is recorded on-chain; auditors trace and freeze suspicious tokens anytime</a:t>
            </a:r>
            <a:endParaRPr lang="en-US" sz="1400" noProof="1"/>
          </a:p>
        </p:txBody>
      </p:sp>
      <p:sp>
        <p:nvSpPr>
          <p:cNvPr id="17" name="footer"/>
          <p:cNvSpPr txBox="1"/>
          <p:nvPr/>
        </p:nvSpPr>
        <p:spPr>
          <a:xfrm>
            <a:off x="7620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· Supply Chain Finance DApp</a:t>
            </a:r>
            <a:endParaRPr lang="en-US" sz="1100" noProof="1"/>
          </a:p>
        </p:txBody>
      </p:sp>
      <p:sp>
        <p:nvSpPr>
          <p:cNvPr id="18" name="page-num"/>
          <p:cNvSpPr txBox="1"/>
          <p:nvPr/>
        </p:nvSpPr>
        <p:spPr>
          <a:xfrm>
            <a:off x="111760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02</a:t>
            </a:r>
            <a:endParaRPr lang="en-US" sz="11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02 · SOLUTION OVERVIEW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B2A32"/>
                </a:solidFill>
                <a:latin typeface="MiSans"/>
                <a:ea typeface="MiSans"/>
              </a:rPr>
              <a:t>Confirmed receivables become splittable, financeable digital tokens</a:t>
            </a:r>
            <a:endParaRPr lang="en-US" sz="26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5" name="chain-note"/>
          <p:cNvSpPr txBox="1"/>
          <p:nvPr/>
        </p:nvSpPr>
        <p:spPr>
          <a:xfrm>
            <a:off x="762000" y="14986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Demo storyline (PRD Sec.3) — every step is an on-chain transaction; PDFs and hashes stay off-chain</a:t>
            </a:r>
            <a:endParaRPr lang="en-US" sz="1100" noProof="1"/>
          </a:p>
        </p:txBody>
      </p:sp>
      <p:sp>
        <p:nvSpPr>
          <p:cNvPr id="6" name="ch1"/>
          <p:cNvSpPr/>
          <p:nvPr/>
        </p:nvSpPr>
        <p:spPr>
          <a:xfrm>
            <a:off x="762000" y="1879600"/>
            <a:ext cx="1498600" cy="685800"/>
          </a:xfrm>
          <a:prstGeom prst="homePlate">
            <a:avLst>
              <a:gd name="adj" fmla="val 28000"/>
            </a:avLst>
          </a:prstGeom>
          <a:solidFill>
            <a:srgbClr val="2A6F97"/>
          </a:solidFill>
          <a:ln>
            <a:noFill/>
          </a:ln>
        </p:spPr>
      </p:sp>
      <p:sp>
        <p:nvSpPr>
          <p:cNvPr id="7" name="ch1-t"/>
          <p:cNvSpPr txBox="1"/>
          <p:nvPr/>
        </p:nvSpPr>
        <p:spPr>
          <a:xfrm>
            <a:off x="762000" y="187960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MiSans"/>
                <a:ea typeface="MiSans"/>
              </a:rPr>
              <a:t>Upload Invoice</a:t>
            </a:r>
            <a:endParaRPr lang="en-US" sz="1200" noProof="1"/>
          </a:p>
        </p:txBody>
      </p:sp>
      <p:sp>
        <p:nvSpPr>
          <p:cNvPr id="8" name="ch2"/>
          <p:cNvSpPr/>
          <p:nvPr/>
        </p:nvSpPr>
        <p:spPr>
          <a:xfrm>
            <a:off x="2336800" y="1879600"/>
            <a:ext cx="1498600" cy="685800"/>
          </a:xfrm>
          <a:prstGeom prst="homePlate">
            <a:avLst>
              <a:gd name="adj" fmla="val 28000"/>
            </a:avLst>
          </a:prstGeom>
          <a:solidFill>
            <a:srgbClr val="2A6F97"/>
          </a:solidFill>
          <a:ln>
            <a:noFill/>
          </a:ln>
        </p:spPr>
      </p:sp>
      <p:sp>
        <p:nvSpPr>
          <p:cNvPr id="9" name="ch2-t"/>
          <p:cNvSpPr txBox="1"/>
          <p:nvPr/>
        </p:nvSpPr>
        <p:spPr>
          <a:xfrm>
            <a:off x="2336800" y="187960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MiSans"/>
                <a:ea typeface="MiSans"/>
              </a:rPr>
              <a:t>CE Confirms</a:t>
            </a:r>
            <a:endParaRPr lang="en-US" sz="1200" noProof="1"/>
          </a:p>
        </p:txBody>
      </p:sp>
      <p:sp>
        <p:nvSpPr>
          <p:cNvPr id="10" name="ch3"/>
          <p:cNvSpPr/>
          <p:nvPr/>
        </p:nvSpPr>
        <p:spPr>
          <a:xfrm>
            <a:off x="3911600" y="1879600"/>
            <a:ext cx="1498600" cy="685800"/>
          </a:xfrm>
          <a:prstGeom prst="homePlate">
            <a:avLst>
              <a:gd name="adj" fmla="val 28000"/>
            </a:avLst>
          </a:prstGeom>
          <a:solidFill>
            <a:srgbClr val="2A9D8F"/>
          </a:solidFill>
          <a:ln>
            <a:noFill/>
          </a:ln>
        </p:spPr>
      </p:sp>
      <p:sp>
        <p:nvSpPr>
          <p:cNvPr id="11" name="ch3-t"/>
          <p:cNvSpPr txBox="1"/>
          <p:nvPr/>
        </p:nvSpPr>
        <p:spPr>
          <a:xfrm>
            <a:off x="3911600" y="187960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MiSans"/>
                <a:ea typeface="MiSans"/>
              </a:rPr>
              <a:t>Token Minted</a:t>
            </a:r>
            <a:endParaRPr lang="en-US" sz="1200" noProof="1"/>
          </a:p>
        </p:txBody>
      </p:sp>
      <p:sp>
        <p:nvSpPr>
          <p:cNvPr id="12" name="ch4"/>
          <p:cNvSpPr/>
          <p:nvPr/>
        </p:nvSpPr>
        <p:spPr>
          <a:xfrm>
            <a:off x="5486400" y="1879600"/>
            <a:ext cx="1498600" cy="685800"/>
          </a:xfrm>
          <a:prstGeom prst="homePlate">
            <a:avLst>
              <a:gd name="adj" fmla="val 28000"/>
            </a:avLst>
          </a:prstGeom>
          <a:solidFill>
            <a:srgbClr val="2A9D8F"/>
          </a:solidFill>
          <a:ln>
            <a:noFill/>
          </a:ln>
        </p:spPr>
      </p:sp>
      <p:sp>
        <p:nvSpPr>
          <p:cNvPr id="13" name="ch4-t"/>
          <p:cNvSpPr txBox="1"/>
          <p:nvPr/>
        </p:nvSpPr>
        <p:spPr>
          <a:xfrm>
            <a:off x="5486400" y="187960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MiSans"/>
                <a:ea typeface="MiSans"/>
              </a:rPr>
              <a:t>Split / Finance</a:t>
            </a:r>
            <a:endParaRPr lang="en-US" sz="1200" noProof="1"/>
          </a:p>
        </p:txBody>
      </p:sp>
      <p:sp>
        <p:nvSpPr>
          <p:cNvPr id="14" name="ch5"/>
          <p:cNvSpPr/>
          <p:nvPr/>
        </p:nvSpPr>
        <p:spPr>
          <a:xfrm>
            <a:off x="7061200" y="1879600"/>
            <a:ext cx="1498600" cy="685800"/>
          </a:xfrm>
          <a:prstGeom prst="homePlate">
            <a:avLst>
              <a:gd name="adj" fmla="val 28000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15" name="ch5-t"/>
          <p:cNvSpPr txBox="1"/>
          <p:nvPr/>
        </p:nvSpPr>
        <p:spPr>
          <a:xfrm>
            <a:off x="7061200" y="187960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MiSans"/>
                <a:ea typeface="MiSans"/>
              </a:rPr>
              <a:t>Quote · Fund</a:t>
            </a:r>
            <a:endParaRPr lang="en-US" sz="1200" noProof="1"/>
          </a:p>
        </p:txBody>
      </p:sp>
      <p:sp>
        <p:nvSpPr>
          <p:cNvPr id="16" name="ch6"/>
          <p:cNvSpPr/>
          <p:nvPr/>
        </p:nvSpPr>
        <p:spPr>
          <a:xfrm>
            <a:off x="8636000" y="1879600"/>
            <a:ext cx="1498600" cy="685800"/>
          </a:xfrm>
          <a:prstGeom prst="homePlate">
            <a:avLst>
              <a:gd name="adj" fmla="val 28000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17" name="ch6-t"/>
          <p:cNvSpPr txBox="1"/>
          <p:nvPr/>
        </p:nvSpPr>
        <p:spPr>
          <a:xfrm>
            <a:off x="8636000" y="187960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MiSans"/>
                <a:ea typeface="MiSans"/>
              </a:rPr>
              <a:t>Repay</a:t>
            </a:r>
            <a:endParaRPr lang="en-US" sz="1200" noProof="1"/>
          </a:p>
        </p:txBody>
      </p:sp>
      <p:sp>
        <p:nvSpPr>
          <p:cNvPr id="18" name="ch7"/>
          <p:cNvSpPr/>
          <p:nvPr/>
        </p:nvSpPr>
        <p:spPr>
          <a:xfrm>
            <a:off x="10210800" y="1879600"/>
            <a:ext cx="1219200" cy="685800"/>
          </a:xfrm>
          <a:prstGeom prst="homePlate">
            <a:avLst>
              <a:gd name="adj" fmla="val 28000"/>
            </a:avLst>
          </a:prstGeom>
          <a:solidFill>
            <a:srgbClr val="1B2A32"/>
          </a:solidFill>
          <a:ln>
            <a:noFill/>
          </a:ln>
        </p:spPr>
      </p:sp>
      <p:sp>
        <p:nvSpPr>
          <p:cNvPr id="19" name="ch7-t"/>
          <p:cNvSpPr txBox="1"/>
          <p:nvPr/>
        </p:nvSpPr>
        <p:spPr>
          <a:xfrm>
            <a:off x="10210800" y="1879600"/>
            <a:ext cx="1117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MiSans"/>
                <a:ea typeface="MiSans"/>
              </a:rPr>
              <a:t>Redeem</a:t>
            </a:r>
            <a:endParaRPr lang="en-US" sz="1200" noProof="1"/>
          </a:p>
        </p:txBody>
      </p:sp>
      <p:sp>
        <p:nvSpPr>
          <p:cNvPr id="20" name="roles-title"/>
          <p:cNvSpPr txBox="1"/>
          <p:nvPr/>
        </p:nvSpPr>
        <p:spPr>
          <a:xfrm>
            <a:off x="762000" y="3022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B2A32"/>
                </a:solidFill>
                <a:latin typeface="MiSans"/>
                <a:ea typeface="MiSans"/>
              </a:rPr>
              <a:t>Five roles, one chain</a:t>
            </a:r>
            <a:endParaRPr lang="en-US" sz="1500" noProof="1"/>
          </a:p>
        </p:txBody>
      </p:sp>
      <p:sp>
        <p:nvSpPr>
          <p:cNvPr id="21" name="roles"/>
          <p:cNvSpPr txBox="1"/>
          <p:nvPr/>
        </p:nvSpPr>
        <p:spPr>
          <a:xfrm>
            <a:off x="762000" y="3403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2A6F97"/>
                </a:solidFill>
                <a:latin typeface="MiSans"/>
                <a:ea typeface="MiSans"/>
              </a:rPr>
              <a:t>Supplier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uploads invoices, splits &amp; transfers, requests financing　　</a:t>
            </a:r>
            <a:r>
              <a:rPr lang="en-US" sz="1400" noProof="1" b="1">
                <a:solidFill>
                  <a:srgbClr val="2A9D8F"/>
                </a:solidFill>
                <a:latin typeface="MiSans"/>
                <a:ea typeface="MiSans"/>
              </a:rPr>
              <a:t>Core Enterprise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confirms invoices, repays at maturity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400" noProof="1" b="1">
                <a:solidFill>
                  <a:srgbClr val="E76F51"/>
                </a:solidFill>
                <a:latin typeface="MiSans"/>
                <a:ea typeface="MiSans"/>
              </a:rPr>
              <a:t>Financier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quotes &amp; funds, marks overdue　　</a:t>
            </a:r>
            <a:r>
              <a:rPr lang="en-US" sz="1400" noProof="1" b="1">
                <a:solidFill>
                  <a:srgbClr val="6B7280"/>
                </a:solidFill>
                <a:latin typeface="MiSans"/>
                <a:ea typeface="MiSans"/>
              </a:rPr>
              <a:t>Auditor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traces provenance, freezes tokens　　</a:t>
            </a:r>
            <a:r>
              <a:rPr lang="en-US" sz="1400" noProof="1" b="1">
                <a:solidFill>
                  <a:srgbClr val="1B2A32"/>
                </a:solidFill>
                <a:latin typeface="MiSans"/>
                <a:ea typeface="MiSans"/>
              </a:rPr>
              <a:t>Admin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reviews onboarding, emergency pause</a:t>
            </a:r>
            <a:endParaRPr lang="en-US" sz="1400" noProof="1"/>
          </a:p>
        </p:txBody>
      </p:sp>
      <p:sp>
        <p:nvSpPr>
          <p:cNvPr id="22" name="nums-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45212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23" name="n1"/>
          <p:cNvSpPr txBox="1"/>
          <p:nvPr/>
        </p:nvSpPr>
        <p:spPr>
          <a:xfrm>
            <a:off x="762000" y="4775200"/>
            <a:ext cx="1651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E76F51"/>
                </a:solidFill>
                <a:latin typeface="MiSans"/>
                <a:ea typeface="MiSans"/>
              </a:rPr>
              <a:t>5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6B7280"/>
                </a:solidFill>
                <a:latin typeface="MiSans"/>
                <a:ea typeface="MiSans"/>
              </a:rPr>
              <a:t>role permissions</a:t>
            </a:r>
            <a:endParaRPr lang="en-US" sz="1600" noProof="1"/>
          </a:p>
        </p:txBody>
      </p:sp>
      <p:sp>
        <p:nvSpPr>
          <p:cNvPr id="24" name="n2"/>
          <p:cNvSpPr txBox="1"/>
          <p:nvPr/>
        </p:nvSpPr>
        <p:spPr>
          <a:xfrm>
            <a:off x="2603500" y="4775200"/>
            <a:ext cx="1651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E76F51"/>
                </a:solidFill>
                <a:latin typeface="MiSans"/>
                <a:ea typeface="MiSans"/>
              </a:rPr>
              <a:t>20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6B7280"/>
                </a:solidFill>
                <a:latin typeface="MiSans"/>
                <a:ea typeface="MiSans"/>
              </a:rPr>
              <a:t>on-chain tx types</a:t>
            </a:r>
            <a:endParaRPr lang="en-US" sz="1600" noProof="1"/>
          </a:p>
        </p:txBody>
      </p:sp>
      <p:sp>
        <p:nvSpPr>
          <p:cNvPr id="25" name="n3"/>
          <p:cNvSpPr txBox="1"/>
          <p:nvPr/>
        </p:nvSpPr>
        <p:spPr>
          <a:xfrm>
            <a:off x="4445000" y="4775200"/>
            <a:ext cx="1651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E76F51"/>
                </a:solidFill>
                <a:latin typeface="MiSans"/>
                <a:ea typeface="MiSans"/>
              </a:rPr>
              <a:t>26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6B7280"/>
                </a:solidFill>
                <a:latin typeface="MiSans"/>
                <a:ea typeface="MiSans"/>
              </a:rPr>
              <a:t>features</a:t>
            </a:r>
            <a:endParaRPr lang="en-US" sz="1600" noProof="1"/>
          </a:p>
        </p:txBody>
      </p:sp>
      <p:sp>
        <p:nvSpPr>
          <p:cNvPr id="26" name="n4"/>
          <p:cNvSpPr txBox="1"/>
          <p:nvPr/>
        </p:nvSpPr>
        <p:spPr>
          <a:xfrm>
            <a:off x="6286500" y="4775200"/>
            <a:ext cx="1651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E76F51"/>
                </a:solidFill>
                <a:latin typeface="MiSans"/>
                <a:ea typeface="MiSans"/>
              </a:rPr>
              <a:t>5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6B7280"/>
                </a:solidFill>
                <a:latin typeface="MiSans"/>
                <a:ea typeface="MiSans"/>
              </a:rPr>
              <a:t>smart contracts</a:t>
            </a:r>
            <a:endParaRPr lang="en-US" sz="1600" noProof="1"/>
          </a:p>
        </p:txBody>
      </p:sp>
      <p:sp>
        <p:nvSpPr>
          <p:cNvPr id="27" name="n5"/>
          <p:cNvSpPr txBox="1"/>
          <p:nvPr/>
        </p:nvSpPr>
        <p:spPr>
          <a:xfrm>
            <a:off x="8128000" y="4775200"/>
            <a:ext cx="1651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E76F51"/>
                </a:solidFill>
                <a:latin typeface="MiSans"/>
                <a:ea typeface="MiSans"/>
              </a:rPr>
              <a:t>19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6B7280"/>
                </a:solidFill>
                <a:latin typeface="MiSans"/>
                <a:ea typeface="MiSans"/>
              </a:rPr>
              <a:t>frontend pages</a:t>
            </a:r>
            <a:endParaRPr lang="en-US" sz="1600" noProof="1"/>
          </a:p>
        </p:txBody>
      </p:sp>
      <p:sp>
        <p:nvSpPr>
          <p:cNvPr id="28" name="n6"/>
          <p:cNvSpPr txBox="1"/>
          <p:nvPr/>
        </p:nvSpPr>
        <p:spPr>
          <a:xfrm>
            <a:off x="9969500" y="4775200"/>
            <a:ext cx="1651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E76F51"/>
                </a:solidFill>
                <a:latin typeface="MiSans"/>
                <a:ea typeface="MiSans"/>
              </a:rPr>
              <a:t>7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6B7280"/>
                </a:solidFill>
                <a:latin typeface="MiSans"/>
                <a:ea typeface="MiSans"/>
              </a:rPr>
              <a:t>database tables</a:t>
            </a:r>
            <a:endParaRPr lang="en-US" sz="1600" noProof="1"/>
          </a:p>
        </p:txBody>
      </p:sp>
      <p:sp>
        <p:nvSpPr>
          <p:cNvPr id="29" name="footer"/>
          <p:cNvSpPr txBox="1"/>
          <p:nvPr/>
        </p:nvSpPr>
        <p:spPr>
          <a:xfrm>
            <a:off x="7620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· Supply Chain Finance DApp</a:t>
            </a:r>
            <a:endParaRPr lang="en-US" sz="1100" noProof="1"/>
          </a:p>
        </p:txBody>
      </p:sp>
      <p:sp>
        <p:nvSpPr>
          <p:cNvPr id="30" name="page-num"/>
          <p:cNvSpPr txBox="1"/>
          <p:nvPr/>
        </p:nvSpPr>
        <p:spPr>
          <a:xfrm>
            <a:off x="111760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03</a:t>
            </a:r>
            <a:endParaRPr lang="en-US" sz="11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03 · SYSTEM ARCHITECTURE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B2A32"/>
                </a:solidFill>
                <a:latin typeface="MiSans"/>
                <a:ea typeface="MiSans"/>
              </a:rPr>
              <a:t>On-chain holds money &amp; tokens; off-chain holds files &amp; queries</a:t>
            </a:r>
            <a:endParaRPr lang="en-US" sz="26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pic>
        <p:nvPicPr>
          <p:cNvPr id="5" name="arch-img"/>
          <p:cNvPicPr/>
          <p:nvPr/>
        </p:nvPicPr>
        <p:blipFill>
          <a:blip r:embed="rId2"/>
          <a:srcRect l="-20335" r="-20335"/>
          <a:stretch>
            <a:fillRect/>
          </a:stretch>
        </p:blipFill>
        <p:spPr>
          <a:xfrm>
            <a:off x="889000" y="1473200"/>
            <a:ext cx="4191000" cy="4902200"/>
          </a:xfrm>
          <a:prstGeom prst="rect">
            <a:avLst/>
          </a:prstGeom>
          <a:ln>
            <a:noFill/>
          </a:ln>
        </p:spPr>
      </p:pic>
      <p:sp>
        <p:nvSpPr>
          <p:cNvPr id="6" name="pt1"/>
          <p:cNvSpPr txBox="1"/>
          <p:nvPr/>
        </p:nvSpPr>
        <p:spPr>
          <a:xfrm>
            <a:off x="5588000" y="16510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The frontend never routes transactions through the backend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 users sign directly against Sepolia contracts via MetaMask; the backend never touches private keys.</a:t>
            </a:r>
            <a:endParaRPr lang="en-US" sz="1400" noProof="1"/>
          </a:p>
        </p:txBody>
      </p:sp>
      <p:sp>
        <p:nvSpPr>
          <p:cNvPr id="7" name="pt2"/>
          <p:cNvSpPr txBox="1"/>
          <p:nvPr/>
        </p:nvSpPr>
        <p:spPr>
          <a:xfrm>
            <a:off x="5588000" y="285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Invoice PDFs off-chain, hashes on-chain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 anyone can verify the file is untampered before confirming, balancing evidence with gas cost.</a:t>
            </a:r>
            <a:endParaRPr lang="en-US" sz="1400" noProof="1"/>
          </a:p>
        </p:txBody>
      </p:sp>
      <p:sp>
        <p:nvSpPr>
          <p:cNvPr id="8" name="pt3"/>
          <p:cNvSpPr txBox="1"/>
          <p:nvPr/>
        </p:nvSpPr>
        <p:spPr>
          <a:xfrm>
            <a:off x="5588000" y="40640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A Web3.py event listener syncs continuously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 TransferSingle and other events land in 7 business tables powering dashboards and audit queries.</a:t>
            </a:r>
            <a:endParaRPr lang="en-US" sz="1400" noProof="1"/>
          </a:p>
        </p:txBody>
      </p:sp>
      <p:sp>
        <p:nvSpPr>
          <p:cNvPr id="9" name="pt4"/>
          <p:cNvSpPr txBox="1"/>
          <p:nvPr/>
        </p:nvSpPr>
        <p:spPr>
          <a:xfrm>
            <a:off x="5588000" y="5270500"/>
            <a:ext cx="584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Five interconnected contracts meet the course requirement; Flask is hosted on Render.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Source: docs/design-EN/diagrams/01-system-architecture.mmd</a:t>
            </a:r>
            <a:endParaRPr lang="en-US" sz="1100" noProof="1"/>
          </a:p>
        </p:txBody>
      </p:sp>
      <p:sp>
        <p:nvSpPr>
          <p:cNvPr id="10" name="footer"/>
          <p:cNvSpPr txBox="1"/>
          <p:nvPr/>
        </p:nvSpPr>
        <p:spPr>
          <a:xfrm>
            <a:off x="7620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· Supply Chain Finance DApp</a:t>
            </a:r>
            <a:endParaRPr lang="en-US" sz="1100" noProof="1"/>
          </a:p>
        </p:txBody>
      </p:sp>
      <p:sp>
        <p:nvSpPr>
          <p:cNvPr id="11" name="page-num"/>
          <p:cNvSpPr txBox="1"/>
          <p:nvPr/>
        </p:nvSpPr>
        <p:spPr>
          <a:xfrm>
            <a:off x="111760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04</a:t>
            </a:r>
            <a:endParaRPr lang="en-US" sz="11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04 · SMART CONTRACT DESIGN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B2A32"/>
                </a:solidFill>
                <a:latin typeface="MiSans"/>
                <a:ea typeface="MiSans"/>
              </a:rPr>
              <a:t>Five contracts with clear duties; RoleManager owns access and the pause switch</a:t>
            </a:r>
            <a:endParaRPr lang="en-US" sz="26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graphicFrame>
        <p:nvGraphicFramePr>
          <p:cNvPr id="5" name="ct"/>
          <p:cNvGraphicFramePr>
            <a:graphicFrameLocks noGrp="1"/>
          </p:cNvGraphicFramePr>
          <p:nvPr/>
        </p:nvGraphicFramePr>
        <p:xfrm>
          <a:off x="762000" y="1574800"/>
          <a:ext cx="10668000" cy="3683000"/>
        </p:xfrm>
        <a:graphic>
          <a:graphicData uri="http://schemas.openxmlformats.org/drawingml/2006/table">
            <a:tbl>
              <a:tblPr/>
              <a:tblGrid>
                <a:gridCol w="2773680"/>
                <a:gridCol w="7894320"/>
              </a:tblGrid>
              <a:tr h="61137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RoleManager.sol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Grants &amp; revokes the five roles (Supplier / Core Enterprise / Financier / Auditor / Admin); global emergency pause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61137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InvoiceRegistry.sol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Invoice registration with dedup keys; on confirmation it mints the equal-value receivable; rejection releases the dedup key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61506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ReceivableToken.sol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ERC-1155 receivable tokens - splittable transfers, auditor freeze/unfreeze; mintable only by Registry, burnable only by the Pool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61506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FinancingPool.sol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Financing requests (token escrow), quote locking, atomic settlement, repayment pool, redemption and overdue marking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61506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MockStablecoin.sol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ERC-20 test stablecoin mUSD with a faucet for demos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61506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Security baseline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nonReentrant on all value movers + checks-effects-interactions; Slither reports zero high/medium issues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762000" y="5588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While paused: admin role operations and auditor freeze/unfreeze still work (emergency response); all other writes are rejected; reads are unaffected.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Contract interactions on the next page; ABIs and query functions in contracts/abi and contracts/docs/interface.md.</a:t>
            </a:r>
            <a:endParaRPr lang="en-US" sz="1100" noProof="1"/>
          </a:p>
        </p:txBody>
      </p:sp>
      <p:sp>
        <p:nvSpPr>
          <p:cNvPr id="7" name="footer"/>
          <p:cNvSpPr txBox="1"/>
          <p:nvPr/>
        </p:nvSpPr>
        <p:spPr>
          <a:xfrm>
            <a:off x="7620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· Supply Chain Finance DApp</a:t>
            </a:r>
            <a:endParaRPr lang="en-US" sz="1100" noProof="1"/>
          </a:p>
        </p:txBody>
      </p:sp>
      <p:sp>
        <p:nvSpPr>
          <p:cNvPr id="8" name="page-num"/>
          <p:cNvSpPr txBox="1"/>
          <p:nvPr/>
        </p:nvSpPr>
        <p:spPr>
          <a:xfrm>
            <a:off x="111760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05</a:t>
            </a:r>
            <a:endParaRPr lang="en-US" sz="11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05 · CORE MECHANISM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B2A32"/>
                </a:solidFill>
                <a:latin typeface="MiSans"/>
                <a:ea typeface="MiSans"/>
              </a:rPr>
              <a:t>Duplicate financing blocked by three gates: dedup, escrow, transfer lock</a:t>
            </a:r>
            <a:endParaRPr lang="en-US" sz="26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5" name="g1-num"/>
          <p:cNvSpPr txBox="1"/>
          <p:nvPr/>
        </p:nvSpPr>
        <p:spPr>
          <a:xfrm>
            <a:off x="762000" y="16764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E76F51"/>
                </a:solidFill>
                <a:latin typeface="MiSans"/>
                <a:ea typeface="MiSans"/>
              </a:rPr>
              <a:t>Gate 1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B2A32"/>
                </a:solidFill>
                <a:latin typeface="MiSans"/>
                <a:ea typeface="MiSans"/>
              </a:rPr>
              <a:t>Registration dedup · InvoiceRegistry</a:t>
            </a:r>
            <a:endParaRPr lang="en-US" sz="1600" noProof="1"/>
          </a:p>
        </p:txBody>
      </p:sp>
      <p:sp>
        <p:nvSpPr>
          <p:cNvPr id="6" name="g1-body"/>
          <p:cNvSpPr txBox="1"/>
          <p:nvPr/>
        </p:nvSpPr>
        <p:spPr>
          <a:xfrm>
            <a:off x="762000" y="2743200"/>
            <a:ext cx="3048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The contract derives a dedup key from "invoice no. + buyer + seller + amount". Resubmitting the same combo reverts with InvoiceAlreadyExists — the tx never lands.</a:t>
            </a:r>
            <a:endParaRPr lang="en-US" sz="1400" noProof="1"/>
          </a:p>
        </p:txBody>
      </p:sp>
      <p:sp>
        <p:nvSpPr>
          <p:cNvPr id="7" name="vline1"/>
          <p:cNvSpPr/>
          <p:nvPr>
            <p:extLst>
              <p:ext uri="{F5677B7D-0D2A-4D9B-9A5C-6D8D7D0E5A5D}">
                <pptd:line encoding="base64url">eyJ2aWV3Qm94IjpbMSwyNjBdLCJwb2ludHMiOiIwLDAgMCwyNjAifQ</pptd:line>
              </p:ext>
            </p:extLst>
          </p:nvPr>
        </p:nvSpPr>
        <p:spPr>
          <a:xfrm>
            <a:off x="4191000" y="1676400"/>
            <a:ext cx="12700" cy="3302000"/>
          </a:xfrm>
          <a:custGeom>
            <a:avLst/>
            <a:gdLst/>
            <a:ahLst/>
            <a:cxnLst/>
            <a:rect l="l" t="t" r="r" b="b"/>
            <a:pathLst>
              <a:path w="1" h="260">
                <a:moveTo>
                  <a:pt x="0" y="0"/>
                </a:moveTo>
                <a:lnTo>
                  <a:pt x="0" y="26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8" name="g2-num"/>
          <p:cNvSpPr txBox="1"/>
          <p:nvPr/>
        </p:nvSpPr>
        <p:spPr>
          <a:xfrm>
            <a:off x="4572000" y="16764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E76F51"/>
                </a:solidFill>
                <a:latin typeface="MiSans"/>
                <a:ea typeface="MiSans"/>
              </a:rPr>
              <a:t>Gate 2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B2A32"/>
                </a:solidFill>
                <a:latin typeface="MiSans"/>
                <a:ea typeface="MiSans"/>
              </a:rPr>
              <a:t>Escrow lock · FinancingPool</a:t>
            </a:r>
            <a:endParaRPr lang="en-US" sz="1600" noProof="1"/>
          </a:p>
        </p:txBody>
      </p:sp>
      <p:sp>
        <p:nvSpPr>
          <p:cNvPr id="9" name="g2-body"/>
          <p:cNvSpPr txBox="1"/>
          <p:nvPr/>
        </p:nvSpPr>
        <p:spPr>
          <a:xfrm>
            <a:off x="4572000" y="2743200"/>
            <a:ext cx="3048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Requesting financing escrows the token into the pool, so the same shares cannot back two open requests — double pledging is physically impossible.</a:t>
            </a:r>
            <a:endParaRPr lang="en-US" sz="1400" noProof="1"/>
          </a:p>
        </p:txBody>
      </p:sp>
      <p:sp>
        <p:nvSpPr>
          <p:cNvPr id="10" name="vline2"/>
          <p:cNvSpPr/>
          <p:nvPr>
            <p:extLst>
              <p:ext uri="{F5677B7D-0D2A-4D9B-9A5C-6D8D7D0E5A5D}">
                <pptd:line encoding="base64url">eyJ2aWV3Qm94IjpbMSwyNjBdLCJwb2ludHMiOiIwLDAgMCwyNjAifQ</pptd:line>
              </p:ext>
            </p:extLst>
          </p:nvPr>
        </p:nvSpPr>
        <p:spPr>
          <a:xfrm>
            <a:off x="8001000" y="1676400"/>
            <a:ext cx="12700" cy="3302000"/>
          </a:xfrm>
          <a:custGeom>
            <a:avLst/>
            <a:gdLst/>
            <a:ahLst/>
            <a:cxnLst/>
            <a:rect l="l" t="t" r="r" b="b"/>
            <a:pathLst>
              <a:path w="1" h="260">
                <a:moveTo>
                  <a:pt x="0" y="0"/>
                </a:moveTo>
                <a:lnTo>
                  <a:pt x="0" y="26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11" name="g3-num"/>
          <p:cNvSpPr txBox="1"/>
          <p:nvPr/>
        </p:nvSpPr>
        <p:spPr>
          <a:xfrm>
            <a:off x="8382000" y="16764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E76F51"/>
                </a:solidFill>
                <a:latin typeface="MiSans"/>
                <a:ea typeface="MiSans"/>
              </a:rPr>
              <a:t>Gate 3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B2A32"/>
                </a:solidFill>
                <a:latin typeface="MiSans"/>
                <a:ea typeface="MiSans"/>
              </a:rPr>
              <a:t>Transfer lock · ReceivableToken</a:t>
            </a:r>
            <a:endParaRPr lang="en-US" sz="1600" noProof="1"/>
          </a:p>
        </p:txBody>
      </p:sp>
      <p:sp>
        <p:nvSpPr>
          <p:cNvPr id="12" name="g3-body"/>
          <p:cNvSpPr txBox="1"/>
          <p:nvPr/>
        </p:nvSpPr>
        <p:spPr>
          <a:xfrm>
            <a:off x="8382000" y="2743200"/>
            <a:ext cx="3048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Tokens acquired by financiers can no longer be transferred — only held to redemption, ruling out multi-layer resale of one token.</a:t>
            </a:r>
            <a:endParaRPr lang="en-US" sz="1400" noProof="1"/>
          </a:p>
        </p:txBody>
      </p:sp>
      <p:sp>
        <p:nvSpPr>
          <p:cNvPr id="13" name="bottom-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5334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14" name="bottom"/>
          <p:cNvSpPr txBox="1"/>
          <p:nvPr/>
        </p:nvSpPr>
        <p:spPr>
          <a:xfrm>
            <a:off x="762000" y="55626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Precision matters: a rejected invoice </a:t>
            </a: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releases its dedup key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so the supplier can fix and resubmit; overdue items can still be repaid, moving Overdue back to Repaid.</a:t>
            </a:r>
            <a:endParaRPr lang="en-US" sz="1400" noProof="1"/>
          </a:p>
        </p:txBody>
      </p:sp>
      <p:sp>
        <p:nvSpPr>
          <p:cNvPr id="15" name="footer"/>
          <p:cNvSpPr txBox="1"/>
          <p:nvPr/>
        </p:nvSpPr>
        <p:spPr>
          <a:xfrm>
            <a:off x="7620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· Supply Chain Finance DApp</a:t>
            </a:r>
            <a:endParaRPr lang="en-US" sz="1100" noProof="1"/>
          </a:p>
        </p:txBody>
      </p:sp>
      <p:sp>
        <p:nvSpPr>
          <p:cNvPr id="16" name="page-num"/>
          <p:cNvSpPr txBox="1"/>
          <p:nvPr/>
        </p:nvSpPr>
        <p:spPr>
          <a:xfrm>
            <a:off x="111760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06</a:t>
            </a:r>
            <a:endParaRPr lang="en-US" sz="11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06 · CONTRACT INTERACTION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B2A32"/>
                </a:solidFill>
                <a:latin typeface="MiSans"/>
                <a:ea typeface="MiSans"/>
              </a:rPr>
              <a:t>The full on-chain sequence, from registration to redemption</a:t>
            </a:r>
            <a:endParaRPr lang="en-US" sz="26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pic>
        <p:nvPicPr>
          <p:cNvPr id="5" name="seq-img"/>
          <p:cNvPicPr/>
          <p:nvPr/>
        </p:nvPicPr>
        <p:blipFill>
          <a:blip r:embed="rId2"/>
          <a:srcRect l="-11937" r="-11937"/>
          <a:stretch>
            <a:fillRect/>
          </a:stretch>
        </p:blipFill>
        <p:spPr>
          <a:xfrm>
            <a:off x="762000" y="1422400"/>
            <a:ext cx="5969000" cy="4978400"/>
          </a:xfrm>
          <a:prstGeom prst="rect">
            <a:avLst/>
          </a:prstGeom>
          <a:ln>
            <a:noFill/>
          </a:ln>
        </p:spPr>
      </p:pic>
      <p:sp>
        <p:nvSpPr>
          <p:cNvPr id="6" name="pt1"/>
          <p:cNvSpPr txBox="1"/>
          <p:nvPr/>
        </p:nvSpPr>
        <p:spPr>
          <a:xfrm>
            <a:off x="7112000" y="1651000"/>
            <a:ext cx="4318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Confirmation is settlement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 confirmInvoice emits InvoiceConfirmed and ReceivableMinted in one tx; the token lands in the supplier's wallet.</a:t>
            </a:r>
            <a:endParaRPr lang="en-US" sz="1400" noProof="1"/>
          </a:p>
        </p:txBody>
      </p:sp>
      <p:sp>
        <p:nvSpPr>
          <p:cNvPr id="7" name="pt2"/>
          <p:cNvSpPr txBox="1"/>
          <p:nvPr/>
        </p:nvSpPr>
        <p:spPr>
          <a:xfrm>
            <a:off x="7112000" y="3111500"/>
            <a:ext cx="4318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Funding is atomic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 acceptQuote moves "token to financier + mUSD to supplier" in a single transaction; any failure rolls back everything.</a:t>
            </a:r>
            <a:endParaRPr lang="en-US" sz="1400" noProof="1"/>
          </a:p>
        </p:txBody>
      </p:sp>
      <p:sp>
        <p:nvSpPr>
          <p:cNvPr id="8" name="pt3"/>
          <p:cNvSpPr txBox="1"/>
          <p:nvPr/>
        </p:nvSpPr>
        <p:spPr>
          <a:xfrm>
            <a:off x="7112000" y="4572000"/>
            <a:ext cx="4318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Quotes lock funds first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 submitQuote requires the financier to approve and lock mUSD, so acceptance never fails on insufficient balance.</a:t>
            </a:r>
            <a:endParaRPr lang="en-US" sz="1400" noProof="1"/>
          </a:p>
        </p:txBody>
      </p:sp>
      <p:sp>
        <p:nvSpPr>
          <p:cNvPr id="9" name="footer"/>
          <p:cNvSpPr txBox="1"/>
          <p:nvPr/>
        </p:nvSpPr>
        <p:spPr>
          <a:xfrm>
            <a:off x="7620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· Supply Chain Finance DApp</a:t>
            </a:r>
            <a:endParaRPr lang="en-US" sz="1100" noProof="1"/>
          </a:p>
        </p:txBody>
      </p:sp>
      <p:sp>
        <p:nvSpPr>
          <p:cNvPr id="10" name="page-num"/>
          <p:cNvSpPr txBox="1"/>
          <p:nvPr/>
        </p:nvSpPr>
        <p:spPr>
          <a:xfrm>
            <a:off x="111760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07</a:t>
            </a:r>
            <a:endParaRPr lang="en-US" sz="11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07 · BUSINESS FLOW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B2A32"/>
                </a:solidFill>
                <a:latin typeface="MiSans"/>
                <a:ea typeface="MiSans"/>
              </a:rPr>
              <a:t>One main line, four recoverable branches</a:t>
            </a:r>
            <a:endParaRPr lang="en-US" sz="26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5" name="step1"/>
          <p:cNvSpPr txBox="1"/>
          <p:nvPr/>
        </p:nvSpPr>
        <p:spPr>
          <a:xfrm>
            <a:off x="762000" y="1574800"/>
            <a:ext cx="2413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E76F51"/>
                </a:solidFill>
                <a:latin typeface="MiSans"/>
                <a:ea typeface="MiSans"/>
              </a:rPr>
              <a:t>STEP 1 · SUPPLIER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500" noProof="1" b="1">
                <a:solidFill>
                  <a:srgbClr val="1B2A32"/>
                </a:solidFill>
                <a:latin typeface="MiSans"/>
                <a:ea typeface="MiSans"/>
              </a:rPr>
              <a:t>Upload invoice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PDF off-chain, hash on-chain; dedup blocks duplicates</a:t>
            </a:r>
            <a:endParaRPr lang="en-US" sz="1600" noProof="1"/>
          </a:p>
        </p:txBody>
      </p:sp>
      <p:sp>
        <p:nvSpPr>
          <p:cNvPr id="6" name="ar1"/>
          <p:cNvSpPr/>
          <p:nvPr>
            <p:extLst>
              <p:ext uri="{F5677B7D-0D2A-4D9B-9A5C-6D8D7D0E5A5D}">
                <pptd:line encoding="base64url">eyJ2aWV3Qm94IjpbMjYsMV0sInBvaW50cyI6IjAsMCAyNiwwIn0</pptd:line>
              </p:ext>
            </p:extLst>
          </p:nvPr>
        </p:nvSpPr>
        <p:spPr>
          <a:xfrm>
            <a:off x="3238500" y="1905000"/>
            <a:ext cx="330200" cy="12700"/>
          </a:xfrm>
          <a:custGeom>
            <a:avLst/>
            <a:gdLst/>
            <a:ahLst/>
            <a:cxnLst/>
            <a:rect l="l" t="t" r="r" b="b"/>
            <a:pathLst>
              <a:path w="26" h="1">
                <a:moveTo>
                  <a:pt x="0" y="0"/>
                </a:moveTo>
                <a:lnTo>
                  <a:pt x="26" y="0"/>
                </a:lnTo>
              </a:path>
            </a:pathLst>
          </a:custGeom>
          <a:noFill/>
          <a:ln w="19050" cap="rnd">
            <a:solidFill>
              <a:srgbClr val="6B7280"/>
            </a:solidFill>
            <a:round/>
            <a:tailEnd type="arrow"/>
          </a:ln>
        </p:spPr>
      </p:sp>
      <p:sp>
        <p:nvSpPr>
          <p:cNvPr id="7" name="step2"/>
          <p:cNvSpPr txBox="1"/>
          <p:nvPr/>
        </p:nvSpPr>
        <p:spPr>
          <a:xfrm>
            <a:off x="3632200" y="1574800"/>
            <a:ext cx="2413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E76F51"/>
                </a:solidFill>
                <a:latin typeface="MiSans"/>
                <a:ea typeface="MiSans"/>
              </a:rPr>
              <a:t>STEP 2 · CORE ENTERPRISE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500" noProof="1" b="1">
                <a:solidFill>
                  <a:srgbClr val="1B2A32"/>
                </a:solidFill>
                <a:latin typeface="MiSans"/>
                <a:ea typeface="MiSans"/>
              </a:rPr>
              <a:t>Confirm invoice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Verify PDF &amp; hash; confirm mints the token</a:t>
            </a:r>
            <a:endParaRPr lang="en-US" sz="1600" noProof="1"/>
          </a:p>
        </p:txBody>
      </p:sp>
      <p:sp>
        <p:nvSpPr>
          <p:cNvPr id="8" name="ar2"/>
          <p:cNvSpPr/>
          <p:nvPr>
            <p:extLst>
              <p:ext uri="{F5677B7D-0D2A-4D9B-9A5C-6D8D7D0E5A5D}">
                <pptd:line encoding="base64url">eyJ2aWV3Qm94IjpbMjYsMV0sInBvaW50cyI6IjAsMCAyNiwwIn0</pptd:line>
              </p:ext>
            </p:extLst>
          </p:nvPr>
        </p:nvSpPr>
        <p:spPr>
          <a:xfrm>
            <a:off x="6108700" y="1905000"/>
            <a:ext cx="330200" cy="12700"/>
          </a:xfrm>
          <a:custGeom>
            <a:avLst/>
            <a:gdLst/>
            <a:ahLst/>
            <a:cxnLst/>
            <a:rect l="l" t="t" r="r" b="b"/>
            <a:pathLst>
              <a:path w="26" h="1">
                <a:moveTo>
                  <a:pt x="0" y="0"/>
                </a:moveTo>
                <a:lnTo>
                  <a:pt x="26" y="0"/>
                </a:lnTo>
              </a:path>
            </a:pathLst>
          </a:custGeom>
          <a:noFill/>
          <a:ln w="19050" cap="rnd">
            <a:solidFill>
              <a:srgbClr val="6B7280"/>
            </a:solidFill>
            <a:round/>
            <a:tailEnd type="arrow"/>
          </a:ln>
        </p:spPr>
      </p:sp>
      <p:sp>
        <p:nvSpPr>
          <p:cNvPr id="9" name="step3"/>
          <p:cNvSpPr txBox="1"/>
          <p:nvPr/>
        </p:nvSpPr>
        <p:spPr>
          <a:xfrm>
            <a:off x="6502400" y="1574800"/>
            <a:ext cx="2413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E76F51"/>
                </a:solidFill>
                <a:latin typeface="MiSans"/>
                <a:ea typeface="MiSans"/>
              </a:rPr>
              <a:t>STEP 3 · SUPPLIER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500" noProof="1" b="1">
                <a:solidFill>
                  <a:srgbClr val="1B2A32"/>
                </a:solidFill>
                <a:latin typeface="MiSans"/>
                <a:ea typeface="MiSans"/>
              </a:rPr>
              <a:t>Split / finance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Split shares to transfer; financing escrows the token</a:t>
            </a:r>
            <a:endParaRPr lang="en-US" sz="1600" noProof="1"/>
          </a:p>
        </p:txBody>
      </p:sp>
      <p:sp>
        <p:nvSpPr>
          <p:cNvPr id="10" name="ar3"/>
          <p:cNvSpPr/>
          <p:nvPr>
            <p:extLst>
              <p:ext uri="{F5677B7D-0D2A-4D9B-9A5C-6D8D7D0E5A5D}">
                <pptd:line encoding="base64url">eyJ2aWV3Qm94IjpbMjYsMV0sInBvaW50cyI6IjAsMCAyNiwwIn0</pptd:line>
              </p:ext>
            </p:extLst>
          </p:nvPr>
        </p:nvSpPr>
        <p:spPr>
          <a:xfrm>
            <a:off x="8978900" y="1905000"/>
            <a:ext cx="330200" cy="12700"/>
          </a:xfrm>
          <a:custGeom>
            <a:avLst/>
            <a:gdLst/>
            <a:ahLst/>
            <a:cxnLst/>
            <a:rect l="l" t="t" r="r" b="b"/>
            <a:pathLst>
              <a:path w="26" h="1">
                <a:moveTo>
                  <a:pt x="0" y="0"/>
                </a:moveTo>
                <a:lnTo>
                  <a:pt x="26" y="0"/>
                </a:lnTo>
              </a:path>
            </a:pathLst>
          </a:custGeom>
          <a:noFill/>
          <a:ln w="19050" cap="rnd">
            <a:solidFill>
              <a:srgbClr val="6B7280"/>
            </a:solidFill>
            <a:round/>
            <a:tailEnd type="arrow"/>
          </a:ln>
        </p:spPr>
      </p:sp>
      <p:sp>
        <p:nvSpPr>
          <p:cNvPr id="11" name="step4"/>
          <p:cNvSpPr txBox="1"/>
          <p:nvPr/>
        </p:nvSpPr>
        <p:spPr>
          <a:xfrm>
            <a:off x="9372600" y="1574800"/>
            <a:ext cx="2413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E76F51"/>
                </a:solidFill>
                <a:latin typeface="MiSans"/>
                <a:ea typeface="MiSans"/>
              </a:rPr>
              <a:t>STEP 4 · FINANCIER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500" noProof="1" b="1">
                <a:solidFill>
                  <a:srgbClr val="1B2A32"/>
                </a:solidFill>
                <a:latin typeface="MiSans"/>
                <a:ea typeface="MiSans"/>
              </a:rPr>
              <a:t>Quote &amp; fund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Discount quotes lock funds; acceptance funds atomically</a:t>
            </a:r>
            <a:endParaRPr lang="en-US" sz="1600" noProof="1"/>
          </a:p>
        </p:txBody>
      </p:sp>
      <p:sp>
        <p:nvSpPr>
          <p:cNvPr id="12" name="mid-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2717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13" name="step5"/>
          <p:cNvSpPr txBox="1"/>
          <p:nvPr/>
        </p:nvSpPr>
        <p:spPr>
          <a:xfrm>
            <a:off x="762000" y="2946400"/>
            <a:ext cx="2413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E76F51"/>
                </a:solidFill>
                <a:latin typeface="MiSans"/>
                <a:ea typeface="MiSans"/>
              </a:rPr>
              <a:t>STEP 5 · CORE ENTERPRISE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500" noProof="1" b="1">
                <a:solidFill>
                  <a:srgbClr val="1B2A32"/>
                </a:solidFill>
                <a:latin typeface="MiSans"/>
                <a:ea typeface="MiSans"/>
              </a:rPr>
              <a:t>Repay into pool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Full face value paid into FinancingPool</a:t>
            </a:r>
            <a:endParaRPr lang="en-US" sz="1600" noProof="1"/>
          </a:p>
        </p:txBody>
      </p:sp>
      <p:sp>
        <p:nvSpPr>
          <p:cNvPr id="14" name="ar5"/>
          <p:cNvSpPr/>
          <p:nvPr>
            <p:extLst>
              <p:ext uri="{F5677B7D-0D2A-4D9B-9A5C-6D8D7D0E5A5D}">
                <pptd:line encoding="base64url">eyJ2aWV3Qm94IjpbMjYsMV0sInBvaW50cyI6IjAsMCAyNiwwIn0</pptd:line>
              </p:ext>
            </p:extLst>
          </p:nvPr>
        </p:nvSpPr>
        <p:spPr>
          <a:xfrm>
            <a:off x="3238500" y="3276600"/>
            <a:ext cx="330200" cy="12700"/>
          </a:xfrm>
          <a:custGeom>
            <a:avLst/>
            <a:gdLst/>
            <a:ahLst/>
            <a:cxnLst/>
            <a:rect l="l" t="t" r="r" b="b"/>
            <a:pathLst>
              <a:path w="26" h="1">
                <a:moveTo>
                  <a:pt x="0" y="0"/>
                </a:moveTo>
                <a:lnTo>
                  <a:pt x="26" y="0"/>
                </a:lnTo>
              </a:path>
            </a:pathLst>
          </a:custGeom>
          <a:noFill/>
          <a:ln w="19050" cap="rnd">
            <a:solidFill>
              <a:srgbClr val="6B7280"/>
            </a:solidFill>
            <a:round/>
            <a:tailEnd type="arrow"/>
          </a:ln>
        </p:spPr>
      </p:sp>
      <p:sp>
        <p:nvSpPr>
          <p:cNvPr id="15" name="step6"/>
          <p:cNvSpPr txBox="1"/>
          <p:nvPr/>
        </p:nvSpPr>
        <p:spPr>
          <a:xfrm>
            <a:off x="3632200" y="2946400"/>
            <a:ext cx="2413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E76F51"/>
                </a:solidFill>
                <a:latin typeface="MiSans"/>
                <a:ea typeface="MiSans"/>
              </a:rPr>
              <a:t>STEP 6 · HOLDER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500" noProof="1" b="1">
                <a:solidFill>
                  <a:srgbClr val="1B2A32"/>
                </a:solidFill>
                <a:latin typeface="MiSans"/>
                <a:ea typeface="MiSans"/>
              </a:rPr>
              <a:t>Redeem &amp; close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Burn token, receive mUSD 1:1</a:t>
            </a:r>
            <a:endParaRPr lang="en-US" sz="1600" noProof="1"/>
          </a:p>
        </p:txBody>
      </p:sp>
      <p:sp>
        <p:nvSpPr>
          <p:cNvPr id="16" name="branch-title"/>
          <p:cNvSpPr txBox="1"/>
          <p:nvPr/>
        </p:nvSpPr>
        <p:spPr>
          <a:xfrm>
            <a:off x="6858000" y="29464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32"/>
                </a:solidFill>
                <a:latin typeface="MiSans"/>
                <a:ea typeface="MiSans"/>
              </a:rPr>
              <a:t>Branches &amp; exception paths (on-chain)</a:t>
            </a:r>
            <a:endParaRPr lang="en-US" sz="1400" noProof="1"/>
          </a:p>
        </p:txBody>
      </p:sp>
      <p:sp>
        <p:nvSpPr>
          <p:cNvPr id="17" name="branches"/>
          <p:cNvSpPr txBox="1"/>
          <p:nvPr/>
        </p:nvSpPr>
        <p:spPr>
          <a:xfrm>
            <a:off x="6858000" y="3327400"/>
            <a:ext cx="4572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Reject invoice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 reason required; dedup key released for resubmission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Cancel request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 possible before acceptance; token returned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Overdue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 financier marks it; payment still accepted afterwards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Auditor freeze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 anytime; frozen blocks transfer, financing, redemption</a:t>
            </a:r>
            <a:endParaRPr lang="en-US" sz="1400" noProof="1"/>
          </a:p>
        </p:txBody>
      </p:sp>
      <p:sp>
        <p:nvSpPr>
          <p:cNvPr id="18" name="note"/>
          <p:cNvSpPr txBox="1"/>
          <p:nvPr/>
        </p:nvSpPr>
        <p:spPr>
          <a:xfrm>
            <a:off x="762000" y="5588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The demo video follows Steps 1-6; full branches in docs/design-EN/diagrams/04-business-flow.mmd (including the auditor's freeze side-path).</a:t>
            </a:r>
            <a:endParaRPr lang="en-US" sz="1100" noProof="1"/>
          </a:p>
        </p:txBody>
      </p:sp>
      <p:sp>
        <p:nvSpPr>
          <p:cNvPr id="19" name="footer"/>
          <p:cNvSpPr txBox="1"/>
          <p:nvPr/>
        </p:nvSpPr>
        <p:spPr>
          <a:xfrm>
            <a:off x="7620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· Supply Chain Finance DApp</a:t>
            </a:r>
            <a:endParaRPr lang="en-US" sz="1100" noProof="1"/>
          </a:p>
        </p:txBody>
      </p:sp>
      <p:sp>
        <p:nvSpPr>
          <p:cNvPr id="20" name="page-num"/>
          <p:cNvSpPr txBox="1"/>
          <p:nvPr/>
        </p:nvSpPr>
        <p:spPr>
          <a:xfrm>
            <a:off x="111760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08</a:t>
            </a:r>
            <a:endParaRPr lang="en-US" sz="11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08 · UI DESIGN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B2A32"/>
                </a:solidFill>
                <a:latin typeface="MiSans"/>
                <a:ea typeface="MiSans"/>
              </a:rPr>
              <a:t>19 pages for five roles - gas first, failure reasons always</a:t>
            </a:r>
            <a:endParaRPr lang="en-US" sz="26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pic>
        <p:nvPicPr>
          <p:cNvPr id="5" name="wf1"/>
          <p:cNvPicPr/>
          <p:nvPr/>
        </p:nvPicPr>
        <p:blipFill>
          <a:blip r:embed="rId2"/>
          <a:srcRect t="-68" b="-68"/>
          <a:stretch>
            <a:fillRect/>
          </a:stretch>
        </p:blipFill>
        <p:spPr>
          <a:xfrm>
            <a:off x="762000" y="1498600"/>
            <a:ext cx="3454400" cy="2324100"/>
          </a:xfrm>
          <a:prstGeom prst="rect">
            <a:avLst/>
          </a:prstGeom>
          <a:ln>
            <a:noFill/>
          </a:ln>
        </p:spPr>
      </p:pic>
      <p:sp>
        <p:nvSpPr>
          <p:cNvPr id="6" name="wf1-border"/>
          <p:cNvSpPr/>
          <p:nvPr/>
        </p:nvSpPr>
        <p:spPr>
          <a:xfrm>
            <a:off x="762000" y="1498600"/>
            <a:ext cx="3454400" cy="2324100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</p:sp>
      <p:sp>
        <p:nvSpPr>
          <p:cNvPr id="7" name="wf1-cap"/>
          <p:cNvSpPr txBox="1"/>
          <p:nvPr/>
        </p:nvSpPr>
        <p:spPr>
          <a:xfrm>
            <a:off x="762000" y="3886200"/>
            <a:ext cx="3454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Supplier dashboard · tokens / funding / to-dos</a:t>
            </a:r>
            <a:endParaRPr lang="en-US" sz="1100" noProof="1"/>
          </a:p>
        </p:txBody>
      </p:sp>
      <p:pic>
        <p:nvPicPr>
          <p:cNvPr id="8" name="wf2"/>
          <p:cNvPicPr/>
          <p:nvPr/>
        </p:nvPicPr>
        <p:blipFill>
          <a:blip r:embed="rId3"/>
          <a:srcRect t="-68" b="-68"/>
          <a:stretch>
            <a:fillRect/>
          </a:stretch>
        </p:blipFill>
        <p:spPr>
          <a:xfrm>
            <a:off x="4368800" y="1498600"/>
            <a:ext cx="3454400" cy="2324100"/>
          </a:xfrm>
          <a:prstGeom prst="rect">
            <a:avLst/>
          </a:prstGeom>
          <a:ln>
            <a:noFill/>
          </a:ln>
        </p:spPr>
      </p:pic>
      <p:sp>
        <p:nvSpPr>
          <p:cNvPr id="9" name="wf2-border"/>
          <p:cNvSpPr/>
          <p:nvPr/>
        </p:nvSpPr>
        <p:spPr>
          <a:xfrm>
            <a:off x="4368800" y="1498600"/>
            <a:ext cx="3454400" cy="2324100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</p:sp>
      <p:sp>
        <p:nvSpPr>
          <p:cNvPr id="10" name="wf2-cap"/>
          <p:cNvSpPr txBox="1"/>
          <p:nvPr/>
        </p:nvSpPr>
        <p:spPr>
          <a:xfrm>
            <a:off x="4368800" y="3886200"/>
            <a:ext cx="3454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Core enterprise · verify, then confirm / reject</a:t>
            </a:r>
            <a:endParaRPr lang="en-US" sz="1100" noProof="1"/>
          </a:p>
        </p:txBody>
      </p:sp>
      <p:pic>
        <p:nvPicPr>
          <p:cNvPr id="11" name="wf3"/>
          <p:cNvPicPr/>
          <p:nvPr/>
        </p:nvPicPr>
        <p:blipFill>
          <a:blip r:embed="rId4"/>
          <a:srcRect t="-68" b="-68"/>
          <a:stretch>
            <a:fillRect/>
          </a:stretch>
        </p:blipFill>
        <p:spPr>
          <a:xfrm>
            <a:off x="7975600" y="1498600"/>
            <a:ext cx="3454400" cy="2324100"/>
          </a:xfrm>
          <a:prstGeom prst="rect">
            <a:avLst/>
          </a:prstGeom>
          <a:ln>
            <a:noFill/>
          </a:ln>
        </p:spPr>
      </p:pic>
      <p:sp>
        <p:nvSpPr>
          <p:cNvPr id="12" name="wf3-border"/>
          <p:cNvSpPr/>
          <p:nvPr/>
        </p:nvSpPr>
        <p:spPr>
          <a:xfrm>
            <a:off x="7975600" y="1498600"/>
            <a:ext cx="3454400" cy="2324100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</p:sp>
      <p:sp>
        <p:nvSpPr>
          <p:cNvPr id="13" name="wf3-cap"/>
          <p:cNvSpPr txBox="1"/>
          <p:nvPr/>
        </p:nvSpPr>
        <p:spPr>
          <a:xfrm>
            <a:off x="7975600" y="3886200"/>
            <a:ext cx="3454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Financier · live discount quote preview</a:t>
            </a:r>
            <a:endParaRPr lang="en-US" sz="1100" noProof="1"/>
          </a:p>
        </p:txBody>
      </p:sp>
      <p:sp>
        <p:nvSpPr>
          <p:cNvPr id="14" name="pts"/>
          <p:cNvSpPr txBox="1"/>
          <p:nvPr/>
        </p:nvSpPr>
        <p:spPr>
          <a:xfrm>
            <a:off x="762000" y="4419600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Interaction rules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 gas estimate before every on-chain action; four-stage feedback (sign -&gt; broadcast -&gt; confirm -&gt; result); failures surface decoded custom errors in plain language.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Design deliverable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 19 wireframes (docs/design-EN/wireframes/) as the frontend implementation reference, each annotated with acceptance feature IDs.</a:t>
            </a:r>
            <a:endParaRPr lang="en-US" sz="1400" noProof="1"/>
          </a:p>
        </p:txBody>
      </p:sp>
      <p:sp>
        <p:nvSpPr>
          <p:cNvPr id="15" name="footer"/>
          <p:cNvSpPr txBox="1"/>
          <p:nvPr/>
        </p:nvSpPr>
        <p:spPr>
          <a:xfrm>
            <a:off x="7620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· Supply Chain Finance DApp</a:t>
            </a:r>
            <a:endParaRPr lang="en-US" sz="1100" noProof="1"/>
          </a:p>
        </p:txBody>
      </p:sp>
      <p:sp>
        <p:nvSpPr>
          <p:cNvPr id="16" name="page-num"/>
          <p:cNvSpPr txBox="1"/>
          <p:nvPr/>
        </p:nvSpPr>
        <p:spPr>
          <a:xfrm>
            <a:off x="111760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09</a:t>
            </a:r>
            <a:endParaRPr lang="en-US" sz="11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09 · DATA MODEL &amp; BACKEND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B2A32"/>
                </a:solidFill>
                <a:latin typeface="MiSans"/>
                <a:ea typeface="MiSans"/>
              </a:rPr>
              <a:t>Seven tables answer "who holds what"; event sync answers "what happened"</a:t>
            </a:r>
            <a:endParaRPr lang="en-US" sz="26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pic>
        <p:nvPicPr>
          <p:cNvPr id="5" name="er-img"/>
          <p:cNvPicPr/>
          <p:nvPr/>
        </p:nvPicPr>
        <p:blipFill>
          <a:blip r:embed="rId2"/>
          <a:srcRect l="-2739" r="-2739"/>
          <a:stretch>
            <a:fillRect/>
          </a:stretch>
        </p:blipFill>
        <p:spPr>
          <a:xfrm>
            <a:off x="889000" y="1473200"/>
            <a:ext cx="3810000" cy="4902200"/>
          </a:xfrm>
          <a:prstGeom prst="rect">
            <a:avLst/>
          </a:prstGeom>
          <a:ln>
            <a:noFill/>
          </a:ln>
        </p:spPr>
      </p:pic>
      <p:sp>
        <p:nvSpPr>
          <p:cNvPr id="6" name="pt1"/>
          <p:cNvSpPr txBox="1"/>
          <p:nvPr/>
        </p:nvSpPr>
        <p:spPr>
          <a:xfrm>
            <a:off x="5334000" y="1651000"/>
            <a:ext cx="6096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enterprises / invoices / financing_requests / quotes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power onboarding, invoice management and the financing market; </a:t>
            </a: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holdings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is aggregated from TransferSingle events — the contracts offer no list query, an irreplaceable backend duty.</a:t>
            </a:r>
            <a:endParaRPr lang="en-US" sz="1400" noProof="1"/>
          </a:p>
        </p:txBody>
      </p:sp>
      <p:sp>
        <p:nvSpPr>
          <p:cNvPr id="7" name="pt2"/>
          <p:cNvSpPr txBox="1"/>
          <p:nvPr/>
        </p:nvSpPr>
        <p:spPr>
          <a:xfrm>
            <a:off x="5334000" y="2984500"/>
            <a:ext cx="6096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chain_events / sync_state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power the audit: every event carries block number, tx hash and decoded args; the sync_state cursor guarantees resume without gaps or duplicates.</a:t>
            </a:r>
            <a:endParaRPr lang="en-US" sz="1400" noProof="1"/>
          </a:p>
        </p:txBody>
      </p:sp>
      <p:sp>
        <p:nvSpPr>
          <p:cNvPr id="8" name="pt3"/>
          <p:cNvSpPr txBox="1"/>
          <p:nvPr/>
        </p:nvSpPr>
        <p:spPr>
          <a:xfrm>
            <a:off x="5334000" y="4318000"/>
            <a:ext cx="6096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The backend never stores private keys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 all writes go frontend -&gt; MetaMask -&gt; contracts; the backend only stores files (PDF + SHA-256), syncs events and serves aggregation queries, hosted on Render.</a:t>
            </a:r>
            <a:endParaRPr lang="en-US" sz="1400" noProof="1"/>
          </a:p>
        </p:txBody>
      </p:sp>
      <p:sp>
        <p:nvSpPr>
          <p:cNvPr id="9" name="pt4"/>
          <p:cNvSpPr txBox="1"/>
          <p:nvPr/>
        </p:nvSpPr>
        <p:spPr>
          <a:xfrm>
            <a:off x="5334000" y="5651500"/>
            <a:ext cx="609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API list in docs/PRD.md Sec.7.2; ER source at docs/design-EN/diagrams/03-data-model.mmd.</a:t>
            </a:r>
            <a:endParaRPr lang="en-US" sz="1100" noProof="1"/>
          </a:p>
        </p:txBody>
      </p:sp>
      <p:sp>
        <p:nvSpPr>
          <p:cNvPr id="10" name="footer"/>
          <p:cNvSpPr txBox="1"/>
          <p:nvPr/>
        </p:nvSpPr>
        <p:spPr>
          <a:xfrm>
            <a:off x="7620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· Supply Chain Finance DApp</a:t>
            </a:r>
            <a:endParaRPr lang="en-US" sz="1100" noProof="1"/>
          </a:p>
        </p:txBody>
      </p:sp>
      <p:sp>
        <p:nvSpPr>
          <p:cNvPr id="11" name="page-num"/>
          <p:cNvSpPr txBox="1"/>
          <p:nvPr/>
        </p:nvSpPr>
        <p:spPr>
          <a:xfrm>
            <a:off x="111760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10</a:t>
            </a:r>
            <a:endParaRPr lang="en-US" sz="11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10 · GAS OPTIMIZATION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B2A32"/>
                </a:solidFill>
                <a:latin typeface="MiSans"/>
                <a:ea typeface="MiSans"/>
              </a:rPr>
              <a:t>Storage packing + fewer cross-contract calls cut main-line gas by 15-21%</a:t>
            </a:r>
            <a:endParaRPr lang="en-US" sz="26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graphicFrame>
        <p:nvGraphicFramePr>
          <p:cNvPr id="5" name="gas-chart"/>
          <p:cNvGraphicFramePr/>
          <p:nvPr/>
        </p:nvGraphicFramePr>
        <p:xfrm>
          <a:off x="762000" y="1574800"/>
          <a:ext cx="6604000" cy="4318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6" name="vline"/>
          <p:cNvSpPr/>
          <p:nvPr>
            <p:extLst>
              <p:ext uri="{F5677B7D-0D2A-4D9B-9A5C-6D8D7D0E5A5D}">
                <pptd:line encoding="base64url">eyJ2aWV3Qm94IjpbMSwzMjBdLCJwb2ludHMiOiIwLDAgMCwzMjAifQ</pptd:line>
              </p:ext>
            </p:extLst>
          </p:nvPr>
        </p:nvSpPr>
        <p:spPr>
          <a:xfrm>
            <a:off x="7747000" y="1651000"/>
            <a:ext cx="12700" cy="4064000"/>
          </a:xfrm>
          <a:custGeom>
            <a:avLst/>
            <a:gdLst/>
            <a:ahLst/>
            <a:cxnLst/>
            <a:rect l="l" t="t" r="r" b="b"/>
            <a:pathLst>
              <a:path w="1" h="320">
                <a:moveTo>
                  <a:pt x="0" y="0"/>
                </a:moveTo>
                <a:lnTo>
                  <a:pt x="0" y="32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7" name="s1"/>
          <p:cNvSpPr txBox="1"/>
          <p:nvPr/>
        </p:nvSpPr>
        <p:spPr>
          <a:xfrm>
            <a:off x="8128000" y="1778000"/>
            <a:ext cx="3302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E76F51"/>
                </a:solidFill>
                <a:latin typeface="MiSans"/>
                <a:ea typeface="MiSans"/>
              </a:rPr>
              <a:t>-10.2%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7280"/>
                </a:solidFill>
                <a:latin typeface="MiSans"/>
                <a:ea typeface="MiSans"/>
              </a:rPr>
              <a:t>Average gas across 18 functions (92,801 -&gt; 83,326)</a:t>
            </a:r>
            <a:endParaRPr lang="en-US" sz="1600" noProof="1"/>
          </a:p>
        </p:txBody>
      </p:sp>
      <p:sp>
        <p:nvSpPr>
          <p:cNvPr id="8" name="s2"/>
          <p:cNvSpPr txBox="1"/>
          <p:nvPr/>
        </p:nvSpPr>
        <p:spPr>
          <a:xfrm>
            <a:off x="8128000" y="2921000"/>
            <a:ext cx="3302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How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: storage slot packing (uint96 / uint64), receivable metadata stored directly on the token to skip cross-contract reads, leaner dedup mapping.</a:t>
            </a:r>
            <a:endParaRPr lang="en-US" sz="1400" noProof="1"/>
          </a:p>
        </p:txBody>
      </p:sp>
      <p:sp>
        <p:nvSpPr>
          <p:cNvPr id="9" name="s3"/>
          <p:cNvSpPr txBox="1"/>
          <p:nvPr/>
        </p:nvSpPr>
        <p:spPr>
          <a:xfrm>
            <a:off x="8128000" y="4191000"/>
            <a:ext cx="330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Source: contracts/docs/gas/, Foundry benchmarks, re-measured on Sepolia.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Optimized contracts redeployed; addresses and ABIs synced to the frontend (commits 9d11af2 / d56bdc4).</a:t>
            </a:r>
            <a:endParaRPr lang="en-US" sz="1100" noProof="1"/>
          </a:p>
        </p:txBody>
      </p:sp>
      <p:sp>
        <p:nvSpPr>
          <p:cNvPr id="10" name="footer"/>
          <p:cNvSpPr txBox="1"/>
          <p:nvPr/>
        </p:nvSpPr>
        <p:spPr>
          <a:xfrm>
            <a:off x="7620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· Supply Chain Finance DApp</a:t>
            </a:r>
            <a:endParaRPr lang="en-US" sz="1100" noProof="1"/>
          </a:p>
        </p:txBody>
      </p:sp>
      <p:sp>
        <p:nvSpPr>
          <p:cNvPr id="11" name="page-num"/>
          <p:cNvSpPr txBox="1"/>
          <p:nvPr/>
        </p:nvSpPr>
        <p:spPr>
          <a:xfrm>
            <a:off x="111760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11</a:t>
            </a:r>
            <a:endParaRPr lang="en-US" sz="11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11 · DEPLOYMENT &amp; VERIFICATION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B2A32"/>
                </a:solidFill>
                <a:latin typeface="MiSans"/>
                <a:ea typeface="MiSans"/>
              </a:rPr>
              <a:t>Live on Sepolia, with functional tests and security checks passed</a:t>
            </a:r>
            <a:endParaRPr lang="en-US" sz="26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5" name="addr-title"/>
          <p:cNvSpPr txBox="1"/>
          <p:nvPr/>
        </p:nvSpPr>
        <p:spPr>
          <a:xfrm>
            <a:off x="762000" y="1574800"/>
            <a:ext cx="558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32"/>
                </a:solidFill>
                <a:latin typeface="MiSans"/>
                <a:ea typeface="MiSans"/>
              </a:rPr>
              <a:t>Sepolia Contract Addresses (chainId 11155111)</a:t>
            </a:r>
            <a:endParaRPr lang="en-US" sz="1400" noProof="1"/>
          </a:p>
        </p:txBody>
      </p:sp>
      <p:graphicFrame>
        <p:nvGraphicFramePr>
          <p:cNvPr id="6" name="addr-table"/>
          <p:cNvGraphicFramePr>
            <a:graphicFrameLocks noGrp="1"/>
          </p:cNvGraphicFramePr>
          <p:nvPr/>
        </p:nvGraphicFramePr>
        <p:xfrm>
          <a:off x="762000" y="1955800"/>
          <a:ext cx="5588000" cy="2794000"/>
        </p:xfrm>
        <a:graphic>
          <a:graphicData uri="http://schemas.openxmlformats.org/drawingml/2006/table">
            <a:tbl>
              <a:tblPr/>
              <a:tblGrid>
                <a:gridCol w="2235200"/>
                <a:gridCol w="3352800"/>
              </a:tblGrid>
              <a:tr h="46380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RoleManager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0x82f8...B6a2E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46659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InvoiceRegistry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0x3960...1eD7a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46659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ReceivableToken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0x3c9E...0368f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46659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FinancingPool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0x2bb0...985c6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46659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MockStablecoin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0xE3C7...1E04F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46380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Start block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11,869,257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ddr-note"/>
          <p:cNvSpPr txBox="1"/>
          <p:nvPr/>
        </p:nvSpPr>
        <p:spPr>
          <a:xfrm>
            <a:off x="762000" y="4902200"/>
            <a:ext cx="558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Full addresses in contracts/deployments/11155111.json; admin at 0x0ced...834f.</a:t>
            </a:r>
            <a:endParaRPr lang="en-US" sz="1100" noProof="1"/>
          </a:p>
        </p:txBody>
      </p:sp>
      <p:sp>
        <p:nvSpPr>
          <p:cNvPr id="8" name="vline"/>
          <p:cNvSpPr/>
          <p:nvPr>
            <p:extLst>
              <p:ext uri="{F5677B7D-0D2A-4D9B-9A5C-6D8D7D0E5A5D}">
                <pptd:line encoding="base64url">eyJ2aWV3Qm94IjpbMSwzMDBdLCJwb2ludHMiOiIwLDAgMCwzMDAifQ</pptd:line>
              </p:ext>
            </p:extLst>
          </p:nvPr>
        </p:nvSpPr>
        <p:spPr>
          <a:xfrm>
            <a:off x="6731000" y="1574800"/>
            <a:ext cx="12700" cy="3810000"/>
          </a:xfrm>
          <a:custGeom>
            <a:avLst/>
            <a:gdLst/>
            <a:ahLst/>
            <a:cxnLst/>
            <a:rect l="l" t="t" r="r" b="b"/>
            <a:pathLst>
              <a:path w="1" h="300">
                <a:moveTo>
                  <a:pt x="0" y="0"/>
                </a:moveTo>
                <a:lnTo>
                  <a:pt x="0" y="30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9" name="val-title"/>
          <p:cNvSpPr txBox="1"/>
          <p:nvPr/>
        </p:nvSpPr>
        <p:spPr>
          <a:xfrm>
            <a:off x="7112000" y="15748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32"/>
                </a:solidFill>
                <a:latin typeface="MiSans"/>
                <a:ea typeface="MiSans"/>
              </a:rPr>
              <a:t>Verification Results</a:t>
            </a:r>
            <a:endParaRPr lang="en-US" sz="1400" noProof="1"/>
          </a:p>
        </p:txBody>
      </p:sp>
      <p:sp>
        <p:nvSpPr>
          <p:cNvPr id="10" name="val-body"/>
          <p:cNvSpPr txBox="1"/>
          <p:nvPr/>
        </p:nvSpPr>
        <p:spPr>
          <a:xfrm>
            <a:off x="7112000" y="1981200"/>
            <a:ext cx="4318000" cy="342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Functional tests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 26 test cases executed one by one on the live Render build (Member 6, report in docs/testing/)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Contract tests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 Foundry unit tests cover all write functions and revert branches of the 5 contracts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Static analysis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 Slither reports zero high/medium issues; custom errors across all functions, decodable by the frontend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Cloud deployment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 Flask + Gunicorn on Render; the event listener syncs chain data continuously</a:t>
            </a:r>
            <a:endParaRPr lang="en-US" sz="1400" noProof="1"/>
          </a:p>
        </p:txBody>
      </p:sp>
      <p:sp>
        <p:nvSpPr>
          <p:cNvPr id="11" name="footer"/>
          <p:cNvSpPr txBox="1"/>
          <p:nvPr/>
        </p:nvSpPr>
        <p:spPr>
          <a:xfrm>
            <a:off x="7620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· Supply Chain Finance DApp</a:t>
            </a:r>
            <a:endParaRPr lang="en-US" sz="1100" noProof="1"/>
          </a:p>
        </p:txBody>
      </p:sp>
      <p:sp>
        <p:nvSpPr>
          <p:cNvPr id="12" name="page-num"/>
          <p:cNvSpPr txBox="1"/>
          <p:nvPr/>
        </p:nvSpPr>
        <p:spPr>
          <a:xfrm>
            <a:off x="111760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12</a:t>
            </a:r>
            <a:endParaRPr lang="en-US" sz="11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ns2="https://kimi-design.msh.team/pptd/2026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89000" y="12192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SUMMARY · SC6113 GROUP PROJECT</a:t>
            </a:r>
            <a:endParaRPr lang="en-US" sz="1200" noProof="1"/>
          </a:p>
        </p:txBody>
      </p:sp>
      <p:sp>
        <p:nvSpPr>
          <p:cNvPr id="3" name="rule-top"/>
          <p:cNvSpPr/>
          <p:nvPr>
            <p:extLst>
              <p:ext uri="{F5677B7D-0D2A-4D9B-9A5C-6D8D7D0E5A5D}">
                <ns2:line encoding="base64url">eyJ2aWV3Qm94IjpbMTIwLDJdLCJwb2ludHMiOiIwLDEgMTIwLDEifQ</ns2:line>
              </p:ext>
            </p:extLst>
          </p:nvPr>
        </p:nvSpPr>
        <p:spPr>
          <a:xfrm>
            <a:off x="889000" y="1600200"/>
            <a:ext cx="1524000" cy="25400"/>
          </a:xfrm>
          <a:custGeom>
            <a:avLst/>
            <a:gdLst/>
            <a:ahLst/>
            <a:cxnLst/>
            <a:rect l="l" t="t" r="r" b="b"/>
            <a:pathLst>
              <a:path w="120" h="2">
                <a:moveTo>
                  <a:pt x="0" y="1"/>
                </a:moveTo>
                <a:lnTo>
                  <a:pt x="120" y="1"/>
                </a:lnTo>
              </a:path>
            </a:pathLst>
          </a:custGeom>
          <a:noFill/>
          <a:ln w="38100" cap="rnd">
            <a:solidFill>
              <a:srgbClr val="E76F51"/>
            </a:solidFill>
            <a:round/>
          </a:ln>
        </p:spPr>
      </p:sp>
      <p:sp>
        <p:nvSpPr>
          <p:cNvPr id="4" name="title"/>
          <p:cNvSpPr txBox="1"/>
          <p:nvPr/>
        </p:nvSpPr>
        <p:spPr>
          <a:xfrm>
            <a:off x="889000" y="1854200"/>
            <a:ext cx="762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1B2A32"/>
                </a:solidFill>
                <a:latin typeface="MiSans"/>
                <a:ea typeface="MiSans"/>
              </a:rPr>
              <a:t>From confirmation to redemption, one on-chain loop</a:t>
            </a:r>
            <a:endParaRPr lang="en-US" sz="3000" noProof="1"/>
          </a:p>
        </p:txBody>
      </p:sp>
      <p:sp>
        <p:nvSpPr>
          <p:cNvPr id="5" name="summary"/>
          <p:cNvSpPr txBox="1"/>
          <p:nvPr/>
        </p:nvSpPr>
        <p:spPr>
          <a:xfrm>
            <a:off x="889000" y="2743200"/>
            <a:ext cx="4191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· 5 contracts + 20 on-chain tx types covering the full lifecycle: register, confirm, transfer, finance, repay, redeem</a:t>
            </a:r>
            <a:endParaRPr lang="en-US" sz="1400" noProof="1"/>
          </a:p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· Dedup, escrow and transfer-lock gates block duplicate financing by mechanism, not by policy</a:t>
            </a:r>
            <a:endParaRPr lang="en-US" sz="1400" noProof="1"/>
          </a:p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· 26 features x 5 roles x real Sepolia deployment, end-to-end demonstrable</a:t>
            </a:r>
            <a:endParaRPr lang="en-US" sz="1400" noProof="1"/>
          </a:p>
        </p:txBody>
      </p:sp>
      <p:sp>
        <p:nvSpPr>
          <p:cNvPr id="6" name="team-title"/>
          <p:cNvSpPr txBox="1"/>
          <p:nvPr/>
        </p:nvSpPr>
        <p:spPr>
          <a:xfrm>
            <a:off x="5588000" y="2743200"/>
            <a:ext cx="584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32"/>
                </a:solidFill>
                <a:latin typeface="MiSans"/>
                <a:ea typeface="MiSans"/>
              </a:rPr>
              <a:t>Team &amp; Division of Labor</a:t>
            </a:r>
            <a:endParaRPr lang="en-US" sz="1400" noProof="1"/>
          </a:p>
        </p:txBody>
      </p:sp>
      <p:graphicFrame>
        <p:nvGraphicFramePr>
          <p:cNvPr id="7" name="team-table"/>
          <p:cNvGraphicFramePr>
            <a:graphicFrameLocks noGrp="1"/>
          </p:cNvGraphicFramePr>
          <p:nvPr/>
        </p:nvGraphicFramePr>
        <p:xfrm>
          <a:off x="5588000" y="3098800"/>
          <a:ext cx="5842000" cy="2717800"/>
        </p:xfrm>
        <a:graphic>
          <a:graphicData uri="http://schemas.openxmlformats.org/drawingml/2006/table">
            <a:tbl>
              <a:tblPr/>
              <a:tblGrid>
                <a:gridCol w="1518920"/>
                <a:gridCol w="1635760"/>
                <a:gridCol w="2687320"/>
              </a:tblGrid>
              <a:tr h="35331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Member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Role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Deliverables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39408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1 · LAO CHON IN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Smart contracts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5 Solidity contracts, Foundry tests, Sepolia deployment, ABIs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39408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2 · WANG JINGHAN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Backend &amp; deployment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Flask REST API, Web3.py event listener, Render hosting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39408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3 · LIU SHAOZHENG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Frontend &amp; Web3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19 responsive views, MetaMask / Ethers.js integration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39408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4 · GE CHEN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Research &amp; report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Industry research, 10-15 page technical report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39408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5 · YU MENGTAO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Design &amp; presentation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5 architecture diagrams, demo deck, user manual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39408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6 · YANG SHUYI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Testing &amp; video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26 functional test cases, test report, demo video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qa"/>
          <p:cNvSpPr txBox="1"/>
          <p:nvPr/>
        </p:nvSpPr>
        <p:spPr>
          <a:xfrm>
            <a:off x="889000" y="55880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E76F51"/>
                </a:solidFill>
                <a:latin typeface="MiSans"/>
                <a:ea typeface="MiSans"/>
              </a:rPr>
              <a:t>Q &amp; A</a:t>
            </a:r>
            <a:endParaRPr lang="en-US" sz="2200" noProof="1"/>
          </a:p>
        </p:txBody>
      </p:sp>
      <p:sp>
        <p:nvSpPr>
          <p:cNvPr id="9" name="repo"/>
          <p:cNvSpPr txBox="1"/>
          <p:nvPr/>
        </p:nvSpPr>
        <p:spPr>
          <a:xfrm>
            <a:off x="4826000" y="59944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github.com/schow9527/supply-chain-finance-dapp</a:t>
            </a:r>
            <a:endParaRPr lang="en-US" sz="11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13</Slides>
</Properties>
</file>

<file path=docProps/core.xml><?xml version="1.0" encoding="utf-8"?>
<cp:coreProperties xmlns:dc="http://purl.org/dc/elements/1.1/" xmlns:cp="http://schemas.openxmlformats.org/package/2006/metadata/core-properties">
  <dc:title>scf-dapp-demo-en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